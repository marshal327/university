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59" r:id="rId6"/>
    <p:sldId id="264" r:id="rId7"/>
    <p:sldId id="260" r:id="rId8"/>
    <p:sldId id="261" r:id="rId9"/>
    <p:sldId id="262" r:id="rId10"/>
    <p:sldId id="263" r:id="rId11"/>
    <p:sldId id="266" r:id="rId12"/>
  </p:sldIdLst>
  <p:sldSz cx="9144000" cy="5143500" type="screen16x9"/>
  <p:notesSz cx="6858000" cy="9144000"/>
  <p:embeddedFontLst>
    <p:embeddedFont>
      <p:font typeface="Proxima Nova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80"/>
    <p:restoredTop sz="64946"/>
  </p:normalViewPr>
  <p:slideViewPr>
    <p:cSldViewPr snapToGrid="0">
      <p:cViewPr varScale="1">
        <p:scale>
          <a:sx n="146" d="100"/>
          <a:sy n="146" d="100"/>
        </p:scale>
        <p:origin x="72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rgbClr val="FF0000"/>
                </a:solidFill>
              </a:rPr>
              <a:t>ПЕРЕД ТЕМ, КАК ПРИСТУПИТЬ К РАБОТЕ, ПРОЧИТАЙТЕ ЗАМЕТКИ ДОКЛАДЧИКА НА ЭТОМ И ОСТАЛЬНЫХ СЛАЙДАХ</a:t>
            </a:r>
            <a:endParaRPr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Шаблон </a:t>
            </a:r>
            <a:r>
              <a:rPr lang="ru" dirty="0">
                <a:solidFill>
                  <a:schemeClr val="dk1"/>
                </a:solidFill>
              </a:rPr>
              <a:t>мы даём не просто так: </a:t>
            </a:r>
            <a:r>
              <a:rPr lang="ru" b="1" dirty="0">
                <a:solidFill>
                  <a:schemeClr val="dk1"/>
                </a:solidFill>
              </a:rPr>
              <a:t>вам он поможет сказать всё, что нужно, и уложиться в отведённое время, а экспертам облегчит восприятие и обратную связь</a:t>
            </a:r>
            <a:r>
              <a:rPr lang="ru" dirty="0">
                <a:solidFill>
                  <a:schemeClr val="dk1"/>
                </a:solidFill>
              </a:rPr>
              <a:t>. Пожалуйста, следуйте ему — не нужно менять местами слайды. </a:t>
            </a:r>
            <a:r>
              <a:rPr lang="ru-RU" dirty="0">
                <a:solidFill>
                  <a:schemeClr val="dk1"/>
                </a:solidFill>
              </a:rPr>
              <a:t>П</a:t>
            </a:r>
            <a:r>
              <a:rPr lang="ru" dirty="0">
                <a:solidFill>
                  <a:schemeClr val="dk1"/>
                </a:solidFill>
              </a:rPr>
              <a:t>ри необходимости можете добавить дополнитульную информацию.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У вас есть простор для творчества:</a:t>
            </a: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 dirty="0">
                <a:solidFill>
                  <a:schemeClr val="dk1"/>
                </a:solidFill>
              </a:rPr>
              <a:t>вы можете поменять тему (цвета, шрифты, фон), но не переусердствуйте с форматированием — сначала доделайте содержание</a:t>
            </a: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 dirty="0">
                <a:solidFill>
                  <a:schemeClr val="dk1"/>
                </a:solidFill>
              </a:rPr>
              <a:t>мы рекомендуем использовать иллюстрации и схемы, имеющие отношение к вашему проекту — но они должны </a:t>
            </a:r>
            <a:r>
              <a:rPr lang="ru" b="1" dirty="0">
                <a:solidFill>
                  <a:schemeClr val="dk1"/>
                </a:solidFill>
              </a:rPr>
              <a:t>помогать </a:t>
            </a:r>
            <a:r>
              <a:rPr lang="ru" dirty="0">
                <a:solidFill>
                  <a:schemeClr val="dk1"/>
                </a:solidFill>
              </a:rPr>
              <a:t>воспринимать информацию, а не запутывать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rgbClr val="0000FF"/>
                </a:solidFill>
              </a:rPr>
              <a:t>Друзья, просим вас не зачитывать информацию со слайдов, а рассказывать своими словами!</a:t>
            </a:r>
            <a:endParaRPr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a5e60d0ca3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a5e60d0ca3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b="1" dirty="0">
                <a:solidFill>
                  <a:srgbClr val="0000FF"/>
                </a:solidFill>
              </a:rPr>
              <a:t>Друзья, просим вас не зачитывать информацию со слайдов, а рассказывать своими словами!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a5e60d0ca3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a5e60d0ca3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b="1" dirty="0">
                <a:solidFill>
                  <a:srgbClr val="0000FF"/>
                </a:solidFill>
              </a:rPr>
              <a:t>Друзья, просим вас не зачитывать информацию со слайдов, а рассказывать своими словами!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a5e60d0ca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a5e60d0ca3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Этот слайд при необходимости можно удалить и вместо него вставить видео, или слайды, демонстрирующие принцип работы.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5e60d0ca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5e60d0ca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b="1" dirty="0">
                <a:solidFill>
                  <a:srgbClr val="0000FF"/>
                </a:solidFill>
              </a:rPr>
              <a:t>Друзья, просим вас не зачитывать информацию со слайдов, а рассказывать своими словами!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350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5e60d0ca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5e60d0ca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b="1" dirty="0">
                <a:solidFill>
                  <a:srgbClr val="0000FF"/>
                </a:solidFill>
              </a:rPr>
              <a:t>Друзья, просим вас не зачитывать информацию со слайдов, а рассказывать своими словами!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a5e60d0ca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a5e60d0ca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b="1" dirty="0">
                <a:solidFill>
                  <a:srgbClr val="0000FF"/>
                </a:solidFill>
              </a:rPr>
              <a:t>Друзья, просим вас не зачитывать информацию со слайдов, а рассказывать своими словами!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a5e60d0ca3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a5e60d0ca3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b="1" dirty="0">
                <a:solidFill>
                  <a:srgbClr val="0000FF"/>
                </a:solidFill>
              </a:rPr>
              <a:t>Друзья, просим вас не зачитывать информацию со слайдов, а рассказывать своими словами!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5e60d0ca3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5e60d0ca3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0000"/>
                </a:solidFill>
              </a:rPr>
              <a:t>Пожалуйста, ещё раз укажите название проекта и команды - это поможет избежать путаницы в оценках</a:t>
            </a:r>
            <a:br>
              <a:rPr lang="ru">
                <a:solidFill>
                  <a:srgbClr val="FF0000"/>
                </a:solidFill>
              </a:rPr>
            </a:br>
            <a:r>
              <a:rPr lang="ru">
                <a:solidFill>
                  <a:srgbClr val="FF0000"/>
                </a:solidFill>
              </a:rPr>
              <a:t/>
            </a:r>
            <a:br>
              <a:rPr lang="ru">
                <a:solidFill>
                  <a:srgbClr val="FF0000"/>
                </a:solidFill>
              </a:rPr>
            </a:br>
            <a:r>
              <a:rPr lang="ru"/>
              <a:t>Здесь вы можете поблагодарить зрителей за внимание и попросить их задавать вопросы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5e60d0ca3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5e60d0ca3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0000"/>
                </a:solidFill>
              </a:rPr>
              <a:t>Пожалуйста, ещё раз укажите название проекта и команды - это поможет избежать путаницы в оценках</a:t>
            </a:r>
            <a:br>
              <a:rPr lang="ru">
                <a:solidFill>
                  <a:srgbClr val="FF0000"/>
                </a:solidFill>
              </a:rPr>
            </a:br>
            <a:r>
              <a:rPr lang="ru">
                <a:solidFill>
                  <a:srgbClr val="FF0000"/>
                </a:solidFill>
              </a:rPr>
              <a:t/>
            </a:r>
            <a:br>
              <a:rPr lang="ru">
                <a:solidFill>
                  <a:srgbClr val="FF0000"/>
                </a:solidFill>
              </a:rPr>
            </a:br>
            <a:r>
              <a:rPr lang="ru"/>
              <a:t>Здесь вы можете поблагодарить зрителей за внимание и попросить их задавать вопросы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8884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Proxima Nova"/>
              <a:buNone/>
              <a:defRPr sz="52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jpeg"/><Relationship Id="rId7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4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801774" y="1248452"/>
            <a:ext cx="5540452" cy="16681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sz="3200" dirty="0"/>
              <a:t>ПО для создания интерактивных карт помещений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916648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 smtClean="0"/>
              <a:t>Еда_и_Машина</a:t>
            </a:r>
            <a:endParaRPr dirty="0"/>
          </a:p>
        </p:txBody>
      </p:sp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0BE5DF7B-DA8F-C542-8FCE-87EE422E6C7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57;p13">
            <a:extLst>
              <a:ext uri="{FF2B5EF4-FFF2-40B4-BE49-F238E27FC236}">
                <a16:creationId xmlns:a16="http://schemas.microsoft.com/office/drawing/2014/main" id="{0469790B-950D-4F4C-A500-3CE6CE80225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Проблема пользователя</a:t>
            </a:r>
            <a:endParaRPr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762103" y="1565882"/>
            <a:ext cx="4720269" cy="19172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-RU" sz="2000" dirty="0">
                <a:solidFill>
                  <a:schemeClr val="tx1"/>
                </a:solidFill>
              </a:rPr>
              <a:t>В компаниях с </a:t>
            </a:r>
            <a:r>
              <a:rPr lang="ru-RU" sz="2000" dirty="0" err="1">
                <a:solidFill>
                  <a:schemeClr val="tx1"/>
                </a:solidFill>
              </a:rPr>
              <a:t>Open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space</a:t>
            </a:r>
            <a:r>
              <a:rPr lang="ru-RU" sz="2000" dirty="0">
                <a:solidFill>
                  <a:schemeClr val="tx1"/>
                </a:solidFill>
              </a:rPr>
              <a:t> часто возникают проблемы с поиском рабочего места для коллег, кофейных аппаратов, а также других вещей</a:t>
            </a:r>
            <a:r>
              <a:rPr lang="ru-RU" sz="2000" dirty="0" smtClean="0">
                <a:solidFill>
                  <a:schemeClr val="tx1"/>
                </a:solidFill>
              </a:rPr>
              <a:t>. </a:t>
            </a:r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0B95FF97-5833-D445-A385-495BC389CCE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7;p13">
            <a:extLst>
              <a:ext uri="{FF2B5EF4-FFF2-40B4-BE49-F238E27FC236}">
                <a16:creationId xmlns:a16="http://schemas.microsoft.com/office/drawing/2014/main" id="{135BEBAE-6B04-224E-8ECB-9C4658C6F6F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2" descr="https://psv4.userapi.com/c856236/u251703382/docs/d7/4a96d521d63e/bxFDeFc1HtA.png?extra=Txf3lydHX7VJFHdySlKuIuq-3uXdVffvz3eYUFTvhwjZVsrdpei5BzTk5X1NG4bUVgzvy20ep8O6nokd2IDeccyjf8-mh9s9F3BpkamAhHK4FfEDEzFtVq5Q8MNNq_NhRvDHe62_W_3l1Zyfj_f0DT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829" y="1479046"/>
            <a:ext cx="1988127" cy="198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Решение</a:t>
            </a:r>
            <a:endParaRPr dirty="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681436" y="2155656"/>
            <a:ext cx="3923435" cy="15384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-RU" dirty="0">
                <a:solidFill>
                  <a:schemeClr val="tx1"/>
                </a:solidFill>
              </a:rPr>
              <a:t>Мы предлагаем решение </a:t>
            </a:r>
            <a:r>
              <a:rPr lang="ru" dirty="0">
                <a:solidFill>
                  <a:schemeClr val="tx1"/>
                </a:solidFill>
              </a:rPr>
              <a:t>–</a:t>
            </a:r>
            <a:r>
              <a:rPr lang="ru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программу с помощью которой можно создавать интерактивные карты помещений</a:t>
            </a:r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E98E0C8E-D53E-8C44-9D3D-B8E87F5DF31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7;p13">
            <a:extLst>
              <a:ext uri="{FF2B5EF4-FFF2-40B4-BE49-F238E27FC236}">
                <a16:creationId xmlns:a16="http://schemas.microsoft.com/office/drawing/2014/main" id="{D68F96BE-C3C2-9743-B3DA-236B93A5BB2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https://sun9-52.userapi.com/impg/CCD4FRA4aOTAgPCXt8FNJ241_vd_7eYvachS5A/1dnR6fWvFmY.jpg?size=369x791&amp;quality=96&amp;proxy=1&amp;sign=048dd77da743f859ca88381eac2a3ddb&amp;type=albu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469" y="1151999"/>
            <a:ext cx="1654103" cy="354578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Интерфейс приложения</a:t>
            </a:r>
            <a:endParaRPr lang="ru-RU" dirty="0"/>
          </a:p>
        </p:txBody>
      </p:sp>
      <p:pic>
        <p:nvPicPr>
          <p:cNvPr id="4" name="Picture 4" descr="https://sun9-47.userapi.com/impf/1OFdl_csufPRcxWZ7dZpLVjfM2FJ9HxH07qvUA/M7_v9JiomPw.jpg?size=269x571&amp;quality=96&amp;proxy=1&amp;sign=b1b72278ba62a797279baa5f3036f751&amp;type=alb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385" y="1284903"/>
            <a:ext cx="1670432" cy="354578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https://sun9-69.userapi.com/impf/DYE3u-hSEpA8KVdKVpfanYfG3uJ-Ic0svq5kyA/8D7jP42Dmbw.jpg?size=248x532&amp;quality=96&amp;proxy=1&amp;sign=7d0221b8e4954f76eade841ad0f7f54c&amp;type=alb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13" y="1284903"/>
            <a:ext cx="1650365" cy="3540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sun9-46.userapi.com/impf/W29CegkqVjrcEsrnFyXijSXMzXTvusTXGuZQoQ/OBC6McHVMvM.jpg?size=252x540&amp;quality=96&amp;proxy=1&amp;sign=ca66290485f1ee091bb40ec51805a8d9&amp;type=albu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262" y="1284903"/>
            <a:ext cx="1652139" cy="3540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sun9-52.userapi.com/impg/CCD4FRA4aOTAgPCXt8FNJ241_vd_7eYvachS5A/1dnR6fWvFmY.jpg?size=369x791&amp;quality=96&amp;proxy=1&amp;sign=048dd77da743f859ca88381eac2a3ddb&amp;type=albu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801" y="1284427"/>
            <a:ext cx="1654103" cy="354578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11726" y="1404491"/>
            <a:ext cx="443156" cy="213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87913" y="1556891"/>
            <a:ext cx="443156" cy="213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4919093" y="1346314"/>
            <a:ext cx="349061" cy="116354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2675533" y="1450211"/>
            <a:ext cx="443156" cy="213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Google Shape;56;p13">
            <a:extLst>
              <a:ext uri="{FF2B5EF4-FFF2-40B4-BE49-F238E27FC236}">
                <a16:creationId xmlns:a16="http://schemas.microsoft.com/office/drawing/2014/main" id="{E98E0C8E-D53E-8C44-9D3D-B8E87F5DF31C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57;p13">
            <a:extLst>
              <a:ext uri="{FF2B5EF4-FFF2-40B4-BE49-F238E27FC236}">
                <a16:creationId xmlns:a16="http://schemas.microsoft.com/office/drawing/2014/main" id="{D68F96BE-C3C2-9743-B3DA-236B93A5BB22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6085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Демонстрация решения</a:t>
            </a:r>
            <a:endParaRPr dirty="0"/>
          </a:p>
        </p:txBody>
      </p:sp>
      <p:pic>
        <p:nvPicPr>
          <p:cNvPr id="3" name="Google Shape;56;p13">
            <a:extLst>
              <a:ext uri="{FF2B5EF4-FFF2-40B4-BE49-F238E27FC236}">
                <a16:creationId xmlns:a16="http://schemas.microsoft.com/office/drawing/2014/main" id="{0CB6C3F5-F454-A243-B421-BA4FF020CD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B4F6E9AF-0D94-B74B-8C8C-AA0831175CB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Перспективы</a:t>
            </a:r>
            <a:endParaRPr dirty="0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-RU" sz="2400" dirty="0" smtClean="0">
                <a:solidFill>
                  <a:schemeClr val="tx1"/>
                </a:solidFill>
              </a:rPr>
              <a:t>Будет взят другой кейс</a:t>
            </a:r>
            <a:endParaRPr sz="3200" dirty="0"/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39FC0D23-CB6B-584F-A632-5329A4678C0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7;p13">
            <a:extLst>
              <a:ext uri="{FF2B5EF4-FFF2-40B4-BE49-F238E27FC236}">
                <a16:creationId xmlns:a16="http://schemas.microsoft.com/office/drawing/2014/main" id="{D544F2D3-2A5A-9A45-BEE6-2ACD193E400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7070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Затраты на проект</a:t>
            </a:r>
            <a:endParaRPr dirty="0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fontAlgn="base">
              <a:buNone/>
            </a:pPr>
            <a:r>
              <a:rPr lang="ru-RU" sz="1600" dirty="0" err="1" smtClean="0">
                <a:solidFill>
                  <a:schemeClr val="tx1"/>
                </a:solidFill>
              </a:rPr>
              <a:t>Шведенко</a:t>
            </a:r>
            <a:r>
              <a:rPr lang="ru-RU" sz="1600" dirty="0" smtClean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Александр – 20 </a:t>
            </a:r>
            <a:r>
              <a:rPr lang="ru-RU" sz="1600" dirty="0" smtClean="0">
                <a:solidFill>
                  <a:schemeClr val="tx1"/>
                </a:solidFill>
              </a:rPr>
              <a:t>часов на работу. 3 часа на обучение</a:t>
            </a:r>
          </a:p>
          <a:p>
            <a:pPr marL="114300" indent="0" fontAlgn="base">
              <a:buNone/>
            </a:pPr>
            <a:r>
              <a:rPr lang="ru-RU" sz="1600" dirty="0" err="1">
                <a:solidFill>
                  <a:schemeClr val="tx1"/>
                </a:solidFill>
              </a:rPr>
              <a:t>Джинория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smtClean="0">
                <a:solidFill>
                  <a:schemeClr val="tx1"/>
                </a:solidFill>
              </a:rPr>
              <a:t>Денис </a:t>
            </a:r>
            <a:r>
              <a:rPr lang="ru-RU" sz="1600" dirty="0">
                <a:solidFill>
                  <a:schemeClr val="tx1"/>
                </a:solidFill>
              </a:rPr>
              <a:t>– </a:t>
            </a:r>
            <a:r>
              <a:rPr lang="ru-RU" sz="1600" dirty="0" smtClean="0">
                <a:solidFill>
                  <a:schemeClr val="tx1"/>
                </a:solidFill>
              </a:rPr>
              <a:t>11 часов на работу. </a:t>
            </a:r>
            <a:r>
              <a:rPr lang="ru-RU" sz="1600" dirty="0">
                <a:solidFill>
                  <a:schemeClr val="tx1"/>
                </a:solidFill>
              </a:rPr>
              <a:t>7</a:t>
            </a:r>
            <a:r>
              <a:rPr lang="ru-RU" sz="1600" dirty="0" smtClean="0">
                <a:solidFill>
                  <a:schemeClr val="tx1"/>
                </a:solidFill>
              </a:rPr>
              <a:t> часов на обучение</a:t>
            </a:r>
          </a:p>
          <a:p>
            <a:pPr marL="114300" indent="0" fontAlgn="base">
              <a:buNone/>
            </a:pPr>
            <a:r>
              <a:rPr lang="ru-RU" sz="1600" dirty="0" smtClean="0">
                <a:solidFill>
                  <a:schemeClr val="tx1"/>
                </a:solidFill>
              </a:rPr>
              <a:t>Бородин Родион – 8 часов на работу. </a:t>
            </a:r>
            <a:r>
              <a:rPr lang="ru-RU" sz="1600" dirty="0">
                <a:solidFill>
                  <a:schemeClr val="tx1"/>
                </a:solidFill>
              </a:rPr>
              <a:t>3</a:t>
            </a:r>
            <a:r>
              <a:rPr lang="ru-RU" sz="1600" dirty="0" smtClean="0">
                <a:solidFill>
                  <a:schemeClr val="tx1"/>
                </a:solidFill>
              </a:rPr>
              <a:t> часа на обучение</a:t>
            </a:r>
            <a:endParaRPr lang="ru-RU" dirty="0" smtClean="0">
              <a:solidFill>
                <a:schemeClr val="tx1"/>
              </a:solidFill>
            </a:endParaRPr>
          </a:p>
          <a:p>
            <a:pPr marL="114300" indent="0" fontAlgn="base">
              <a:buNone/>
            </a:pPr>
            <a:r>
              <a:rPr lang="ru-RU" sz="1600" dirty="0" err="1" smtClean="0">
                <a:solidFill>
                  <a:schemeClr val="tx1"/>
                </a:solidFill>
              </a:rPr>
              <a:t>Волосовец</a:t>
            </a:r>
            <a:r>
              <a:rPr lang="ru-RU" sz="1600" dirty="0" smtClean="0">
                <a:solidFill>
                  <a:schemeClr val="tx1"/>
                </a:solidFill>
              </a:rPr>
              <a:t> Даниил – 4 часа на работу. 1 час на обучение</a:t>
            </a:r>
          </a:p>
          <a:p>
            <a:pPr marL="114300" indent="0" fontAlgn="base">
              <a:buNone/>
            </a:pPr>
            <a:endParaRPr lang="ru-RU" sz="1100" dirty="0">
              <a:solidFill>
                <a:schemeClr val="tx1"/>
              </a:solidFill>
            </a:endParaRPr>
          </a:p>
          <a:p>
            <a:pPr marL="114300" indent="0" fontAlgn="base">
              <a:buNone/>
            </a:pPr>
            <a:r>
              <a:rPr lang="ru-RU" sz="1600" dirty="0" smtClean="0">
                <a:solidFill>
                  <a:schemeClr val="tx1"/>
                </a:solidFill>
              </a:rPr>
              <a:t>В дальнейшем мы планируем взять другой кейс, поэтому планирование дальнейших затрат бессмысленно.</a:t>
            </a:r>
          </a:p>
          <a:p>
            <a:pPr marL="114300" indent="0" fontAlgn="base"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114300" indent="0" fontAlgn="base">
              <a:buNone/>
            </a:pPr>
            <a:r>
              <a:rPr lang="ru-RU" sz="1600" dirty="0" smtClean="0">
                <a:solidFill>
                  <a:schemeClr val="tx1"/>
                </a:solidFill>
              </a:rPr>
              <a:t>Итого: 43 часа на работу. 14 часов на обучение.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6731C513-94FC-0A46-BFA6-8F91BF630BD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7;p13">
            <a:extLst>
              <a:ext uri="{FF2B5EF4-FFF2-40B4-BE49-F238E27FC236}">
                <a16:creationId xmlns:a16="http://schemas.microsoft.com/office/drawing/2014/main" id="{22FE2B74-508F-B34A-8D95-6D4D5221370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Как была устроена работа</a:t>
            </a:r>
            <a:endParaRPr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fontAlgn="base">
              <a:buNone/>
            </a:pPr>
            <a:r>
              <a:rPr lang="ru-RU" sz="1400" dirty="0" err="1">
                <a:solidFill>
                  <a:schemeClr val="tx1"/>
                </a:solidFill>
              </a:rPr>
              <a:t>Шведенко</a:t>
            </a:r>
            <a:r>
              <a:rPr lang="ru-RU" sz="1400" dirty="0">
                <a:solidFill>
                  <a:schemeClr val="tx1"/>
                </a:solidFill>
              </a:rPr>
              <a:t> Александр – </a:t>
            </a:r>
            <a:r>
              <a:rPr lang="ru-RU" sz="1400" dirty="0" smtClean="0">
                <a:solidFill>
                  <a:schemeClr val="tx1"/>
                </a:solidFill>
              </a:rPr>
              <a:t>Лидер. Разработчик. Составитель документации</a:t>
            </a:r>
            <a:endParaRPr lang="ru-RU" sz="1400" dirty="0">
              <a:solidFill>
                <a:schemeClr val="tx1"/>
              </a:solidFill>
            </a:endParaRPr>
          </a:p>
          <a:p>
            <a:pPr marL="114300" indent="0" fontAlgn="base">
              <a:buNone/>
            </a:pPr>
            <a:r>
              <a:rPr lang="ru-RU" sz="1400" dirty="0" err="1">
                <a:solidFill>
                  <a:schemeClr val="tx1"/>
                </a:solidFill>
              </a:rPr>
              <a:t>Джинория</a:t>
            </a:r>
            <a:r>
              <a:rPr lang="ru-RU" sz="1400" dirty="0">
                <a:solidFill>
                  <a:schemeClr val="tx1"/>
                </a:solidFill>
              </a:rPr>
              <a:t> Денис – </a:t>
            </a:r>
            <a:r>
              <a:rPr lang="ru-RU" sz="1400" dirty="0" smtClean="0">
                <a:solidFill>
                  <a:schemeClr val="tx1"/>
                </a:solidFill>
              </a:rPr>
              <a:t>Разработчик. Составитель документации</a:t>
            </a:r>
            <a:endParaRPr lang="ru-RU" sz="1400" dirty="0">
              <a:solidFill>
                <a:schemeClr val="tx1"/>
              </a:solidFill>
            </a:endParaRPr>
          </a:p>
          <a:p>
            <a:pPr marL="114300" indent="0" fontAlgn="base">
              <a:buNone/>
            </a:pPr>
            <a:r>
              <a:rPr lang="ru-RU" sz="1400" dirty="0">
                <a:solidFill>
                  <a:schemeClr val="tx1"/>
                </a:solidFill>
              </a:rPr>
              <a:t>Бородин Родион – </a:t>
            </a:r>
            <a:r>
              <a:rPr lang="ru-RU" sz="1400" dirty="0" smtClean="0">
                <a:solidFill>
                  <a:schemeClr val="tx1"/>
                </a:solidFill>
              </a:rPr>
              <a:t>Разработчик. Дизайнер</a:t>
            </a:r>
          </a:p>
          <a:p>
            <a:pPr marL="114300" indent="0" fontAlgn="base">
              <a:buNone/>
            </a:pPr>
            <a:r>
              <a:rPr lang="ru-RU" sz="1400" dirty="0" err="1" smtClean="0">
                <a:solidFill>
                  <a:schemeClr val="tx1"/>
                </a:solidFill>
              </a:rPr>
              <a:t>Волосовец</a:t>
            </a:r>
            <a:r>
              <a:rPr lang="ru-RU" sz="1400" dirty="0" smtClean="0">
                <a:solidFill>
                  <a:schemeClr val="tx1"/>
                </a:solidFill>
              </a:rPr>
              <a:t> </a:t>
            </a:r>
            <a:r>
              <a:rPr lang="ru-RU" sz="1400" dirty="0">
                <a:solidFill>
                  <a:schemeClr val="tx1"/>
                </a:solidFill>
              </a:rPr>
              <a:t>Даниил </a:t>
            </a:r>
            <a:r>
              <a:rPr lang="ru-RU" sz="1400" dirty="0" smtClean="0">
                <a:solidFill>
                  <a:schemeClr val="tx1"/>
                </a:solidFill>
              </a:rPr>
              <a:t>– Разработчик</a:t>
            </a:r>
            <a:endParaRPr lang="ru-RU" sz="1400" dirty="0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ru-RU" sz="1400" dirty="0" smtClean="0">
                <a:solidFill>
                  <a:schemeClr val="tx1"/>
                </a:solidFill>
              </a:rPr>
              <a:t>В качестве инструмента для разработки программы использовался игровой движок </a:t>
            </a:r>
            <a:r>
              <a:rPr lang="en-US" sz="1400" dirty="0" smtClean="0">
                <a:solidFill>
                  <a:schemeClr val="tx1"/>
                </a:solidFill>
              </a:rPr>
              <a:t>Unity. </a:t>
            </a:r>
            <a:endParaRPr lang="ru-RU" sz="1400" dirty="0" smtClean="0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ru-RU" sz="1400" dirty="0" smtClean="0">
                <a:solidFill>
                  <a:schemeClr val="tx1"/>
                </a:solidFill>
              </a:rPr>
              <a:t>Для разработки интерфейса использовалась программа </a:t>
            </a:r>
            <a:r>
              <a:rPr lang="en-US" sz="1400" dirty="0" err="1" smtClean="0">
                <a:solidFill>
                  <a:schemeClr val="tx1"/>
                </a:solidFill>
              </a:rPr>
              <a:t>figma</a:t>
            </a:r>
            <a:r>
              <a:rPr lang="en-US" sz="1400" dirty="0" smtClean="0">
                <a:solidFill>
                  <a:schemeClr val="tx1"/>
                </a:solidFill>
              </a:rPr>
              <a:t>.</a:t>
            </a:r>
            <a:endParaRPr lang="ru-RU" sz="1400" dirty="0">
              <a:solidFill>
                <a:schemeClr val="tx1"/>
              </a:solidFill>
            </a:endParaRPr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833849FB-63C3-3645-88B7-CAFE6B57099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7;p13">
            <a:extLst>
              <a:ext uri="{FF2B5EF4-FFF2-40B4-BE49-F238E27FC236}">
                <a16:creationId xmlns:a16="http://schemas.microsoft.com/office/drawing/2014/main" id="{8629D2A3-EB04-564C-9213-BE6DCA47DD9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Чему удалось научиться</a:t>
            </a:r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ru-RU" sz="1400" dirty="0" smtClean="0">
                <a:solidFill>
                  <a:schemeClr val="tx1"/>
                </a:solidFill>
              </a:rPr>
              <a:t>В ходе создания кейса каждый член команды улучшил свои навыки в разработке программ на игровом движке </a:t>
            </a:r>
            <a:r>
              <a:rPr lang="en-US" sz="1400" dirty="0" smtClean="0">
                <a:solidFill>
                  <a:schemeClr val="tx1"/>
                </a:solidFill>
              </a:rPr>
              <a:t>Unity. </a:t>
            </a:r>
            <a:r>
              <a:rPr lang="ru-RU" sz="1400" dirty="0" smtClean="0">
                <a:solidFill>
                  <a:schemeClr val="tx1"/>
                </a:solidFill>
              </a:rPr>
              <a:t>Кроме этого Бородиным Родионом был освоен инструмент </a:t>
            </a:r>
            <a:r>
              <a:rPr lang="en-US" sz="1400" dirty="0" err="1" smtClean="0">
                <a:solidFill>
                  <a:schemeClr val="tx1"/>
                </a:solidFill>
              </a:rPr>
              <a:t>figma</a:t>
            </a:r>
            <a:r>
              <a:rPr lang="ru-RU" sz="1400" dirty="0" smtClean="0">
                <a:solidFill>
                  <a:schemeClr val="tx1"/>
                </a:solidFill>
              </a:rPr>
              <a:t>, который он использовал</a:t>
            </a:r>
            <a:r>
              <a:rPr lang="en-US" sz="1400" dirty="0" smtClean="0">
                <a:solidFill>
                  <a:schemeClr val="tx1"/>
                </a:solidFill>
              </a:rPr>
              <a:t> </a:t>
            </a:r>
            <a:r>
              <a:rPr lang="ru-RU" sz="1400" dirty="0" smtClean="0">
                <a:solidFill>
                  <a:schemeClr val="tx1"/>
                </a:solidFill>
              </a:rPr>
              <a:t>для разработки интерфейса приложения. Также команда получила опыт работы с </a:t>
            </a:r>
            <a:r>
              <a:rPr lang="en-US" sz="1400" dirty="0" err="1" smtClean="0">
                <a:solidFill>
                  <a:schemeClr val="tx1"/>
                </a:solidFill>
              </a:rPr>
              <a:t>trello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ru-RU" sz="1400" dirty="0" smtClean="0">
              <a:solidFill>
                <a:schemeClr val="tx1"/>
              </a:solidFill>
            </a:endParaRPr>
          </a:p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1C7A43DC-07E5-9B4D-9AC8-E65BDB56A7C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7;p13">
            <a:extLst>
              <a:ext uri="{FF2B5EF4-FFF2-40B4-BE49-F238E27FC236}">
                <a16:creationId xmlns:a16="http://schemas.microsoft.com/office/drawing/2014/main" id="{C278D618-FDAD-4946-B20B-D4B95FF346B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ctrTitle"/>
          </p:nvPr>
        </p:nvSpPr>
        <p:spPr>
          <a:xfrm>
            <a:off x="311700" y="339908"/>
            <a:ext cx="8520600" cy="93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200" dirty="0" smtClean="0"/>
              <a:t>Итоги</a:t>
            </a:r>
            <a:endParaRPr sz="4200" dirty="0"/>
          </a:p>
        </p:txBody>
      </p:sp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3630F78A-0442-7B47-93F3-B3B5370FA5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57;p13">
            <a:extLst>
              <a:ext uri="{FF2B5EF4-FFF2-40B4-BE49-F238E27FC236}">
                <a16:creationId xmlns:a16="http://schemas.microsoft.com/office/drawing/2014/main" id="{7EABDBD5-53EE-7E4E-B1EF-FC91017C98D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9;p17"/>
          <p:cNvSpPr txBox="1">
            <a:spLocks/>
          </p:cNvSpPr>
          <p:nvPr/>
        </p:nvSpPr>
        <p:spPr>
          <a:xfrm>
            <a:off x="311700" y="1409533"/>
            <a:ext cx="7303564" cy="195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algn="l" fontAlgn="base">
              <a:buSzPct val="100000"/>
              <a:buFont typeface="+mj-lt"/>
              <a:buAutoNum type="arabicPeriod"/>
            </a:pPr>
            <a:r>
              <a:rPr lang="ru-RU" sz="1600" dirty="0" smtClean="0">
                <a:solidFill>
                  <a:schemeClr val="tx1"/>
                </a:solidFill>
              </a:rPr>
              <a:t>В связи с тем, что отсутствовала связь с заказчиком, была разработана только часть программы описанная в кейсе.  </a:t>
            </a:r>
            <a:endParaRPr lang="en-US" sz="1600" dirty="0" smtClean="0">
              <a:solidFill>
                <a:schemeClr val="tx1"/>
              </a:solidFill>
            </a:endParaRPr>
          </a:p>
          <a:p>
            <a:pPr algn="l" fontAlgn="base">
              <a:buSzPct val="100000"/>
              <a:buFont typeface="+mj-lt"/>
              <a:buAutoNum type="arabicPeriod"/>
            </a:pPr>
            <a:r>
              <a:rPr lang="ru-RU" sz="1600" dirty="0" smtClean="0">
                <a:solidFill>
                  <a:schemeClr val="tx1"/>
                </a:solidFill>
              </a:rPr>
              <a:t>Смена кейса</a:t>
            </a:r>
          </a:p>
          <a:p>
            <a:pPr algn="l" fontAlgn="base">
              <a:buSzPct val="100000"/>
              <a:buFont typeface="+mj-lt"/>
              <a:buAutoNum type="arabicPeriod"/>
            </a:pPr>
            <a:r>
              <a:rPr lang="ru-RU" sz="1600" dirty="0" smtClean="0">
                <a:solidFill>
                  <a:schemeClr val="tx1"/>
                </a:solidFill>
              </a:rPr>
              <a:t>Исключение </a:t>
            </a:r>
            <a:r>
              <a:rPr lang="ru-RU" sz="1600" dirty="0" err="1" smtClean="0">
                <a:solidFill>
                  <a:schemeClr val="tx1"/>
                </a:solidFill>
              </a:rPr>
              <a:t>Волосовца</a:t>
            </a:r>
            <a:r>
              <a:rPr lang="ru-RU" sz="1600" dirty="0" smtClean="0">
                <a:solidFill>
                  <a:schemeClr val="tx1"/>
                </a:solidFill>
              </a:rPr>
              <a:t> Даниила Владимировича из команды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200" dirty="0" smtClean="0"/>
              <a:t>Спасибо за внимание!</a:t>
            </a:r>
            <a:endParaRPr sz="4200" dirty="0"/>
          </a:p>
        </p:txBody>
      </p:sp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3630F78A-0442-7B47-93F3-B3B5370FA5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57;p13">
            <a:extLst>
              <a:ext uri="{FF2B5EF4-FFF2-40B4-BE49-F238E27FC236}">
                <a16:creationId xmlns:a16="http://schemas.microsoft.com/office/drawing/2014/main" id="{7EABDBD5-53EE-7E4E-B1EF-FC91017C98D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117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530</Words>
  <Application>Microsoft Office PowerPoint</Application>
  <PresentationFormat>Экран (16:9)</PresentationFormat>
  <Paragraphs>56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Proxima Nova</vt:lpstr>
      <vt:lpstr>Arial</vt:lpstr>
      <vt:lpstr>Simple Light</vt:lpstr>
      <vt:lpstr>ПО для создания интерактивных карт помещений</vt:lpstr>
      <vt:lpstr>Проблема пользователя</vt:lpstr>
      <vt:lpstr>Решение</vt:lpstr>
      <vt:lpstr>Интерфейс приложения</vt:lpstr>
      <vt:lpstr>Демонстрация решения</vt:lpstr>
      <vt:lpstr>Перспективы</vt:lpstr>
      <vt:lpstr>Затраты на проект</vt:lpstr>
      <vt:lpstr>Как была устроена работа</vt:lpstr>
      <vt:lpstr>Чему удалось научиться</vt:lpstr>
      <vt:lpstr>Итоги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проекта</dc:title>
  <cp:lastModifiedBy>Alexandr Shvedenko</cp:lastModifiedBy>
  <cp:revision>20</cp:revision>
  <dcterms:modified xsi:type="dcterms:W3CDTF">2021-01-17T18:44:57Z</dcterms:modified>
</cp:coreProperties>
</file>