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Roboto" charset="1" panose="02000000000000000000"/>
      <p:regular r:id="rId10"/>
    </p:embeddedFont>
    <p:embeddedFont>
      <p:font typeface="Roboto Bold" charset="1" panose="02000000000000000000"/>
      <p:regular r:id="rId11"/>
    </p:embeddedFont>
    <p:embeddedFont>
      <p:font typeface="Roboto Italics" charset="1" panose="02000000000000000000"/>
      <p:regular r:id="rId12"/>
    </p:embeddedFont>
    <p:embeddedFont>
      <p:font typeface="Roboto Bold Italics" charset="1" panose="02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slides/slide1.xml" Type="http://schemas.openxmlformats.org/officeDocument/2006/relationships/slide"/><Relationship Id="rId15" Target="slides/slide2.xml" Type="http://schemas.openxmlformats.org/officeDocument/2006/relationships/slide"/><Relationship Id="rId16" Target="slides/slide3.xml" Type="http://schemas.openxmlformats.org/officeDocument/2006/relationships/slide"/><Relationship Id="rId17" Target="slides/slide4.xml" Type="http://schemas.openxmlformats.org/officeDocument/2006/relationships/slide"/><Relationship Id="rId18" Target="slides/slide5.xml" Type="http://schemas.openxmlformats.org/officeDocument/2006/relationships/slide"/><Relationship Id="rId19" Target="slides/slide6.xml" Type="http://schemas.openxmlformats.org/officeDocument/2006/relationships/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slides/slide8.xml" Type="http://schemas.openxmlformats.org/officeDocument/2006/relationships/slide"/><Relationship Id="rId22" Target="slides/slide9.xml" Type="http://schemas.openxmlformats.org/officeDocument/2006/relationships/slide"/><Relationship Id="rId23" Target="slides/slide10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1.png" Type="http://schemas.openxmlformats.org/officeDocument/2006/relationships/image"/><Relationship Id="rId7" Target="../media/image2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60868"/>
            <a:ext cx="112078" cy="5810374"/>
            <a:chOff x="0" y="0"/>
            <a:chExt cx="149437" cy="7747165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975131" y="496354"/>
            <a:ext cx="2763445" cy="76886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048982" y="3421682"/>
            <a:ext cx="10307871" cy="244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2"/>
              </a:lnSpc>
            </a:pPr>
            <a:r>
              <a:rPr lang="en-US" sz="5829">
                <a:solidFill>
                  <a:srgbClr val="FFFFFF"/>
                </a:solidFill>
                <a:latin typeface="Roboto Bold"/>
              </a:rPr>
              <a:t>ПО ДЛЯ СОЗДАНИЯ ИНТЕРАКТИВНЫХ КАРТ ПОМЕЩЕНИЯ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2965" y="4024710"/>
            <a:ext cx="955625" cy="44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55435" y="6254802"/>
            <a:ext cx="7894966" cy="65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sz="3886">
                <a:solidFill>
                  <a:srgbClr val="FFC033"/>
                </a:solidFill>
                <a:latin typeface="Roboto Bold"/>
              </a:rPr>
              <a:t>Еда_и_Машина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5738576" y="349295"/>
            <a:ext cx="1838668" cy="10629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60868"/>
            <a:ext cx="112078" cy="5810374"/>
            <a:chOff x="0" y="0"/>
            <a:chExt cx="149437" cy="7747165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62965" y="4024710"/>
            <a:ext cx="955625" cy="44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941224" y="1937321"/>
            <a:ext cx="16533795" cy="9228610"/>
            <a:chOff x="0" y="0"/>
            <a:chExt cx="15902755" cy="8876384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15902755" cy="8876385"/>
            </a:xfrm>
            <a:custGeom>
              <a:avLst/>
              <a:gdLst/>
              <a:ahLst/>
              <a:cxnLst/>
              <a:rect r="r" b="b" t="t" l="l"/>
              <a:pathLst>
                <a:path h="8876385" w="15902755">
                  <a:moveTo>
                    <a:pt x="1559795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71585"/>
                  </a:lnTo>
                  <a:cubicBezTo>
                    <a:pt x="0" y="8740494"/>
                    <a:pt x="135890" y="8876385"/>
                    <a:pt x="304800" y="8876385"/>
                  </a:cubicBezTo>
                  <a:lnTo>
                    <a:pt x="15597955" y="8876385"/>
                  </a:lnTo>
                  <a:cubicBezTo>
                    <a:pt x="15766864" y="8876385"/>
                    <a:pt x="15902755" y="8740494"/>
                    <a:pt x="15902755" y="8571585"/>
                  </a:cubicBezTo>
                  <a:lnTo>
                    <a:pt x="15902755" y="304800"/>
                  </a:lnTo>
                  <a:cubicBezTo>
                    <a:pt x="15902755" y="135890"/>
                    <a:pt x="15766864" y="0"/>
                    <a:pt x="15597955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14915" y="4513272"/>
            <a:ext cx="10300998" cy="2743563"/>
            <a:chOff x="0" y="0"/>
            <a:chExt cx="13734665" cy="365808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8100"/>
              <a:ext cx="13734665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6600"/>
                </a:lnSpc>
              </a:pPr>
              <a:r>
                <a:rPr lang="en-US" sz="6000">
                  <a:solidFill>
                    <a:srgbClr val="FFFFFF"/>
                  </a:solidFill>
                  <a:latin typeface="Roboto Bold"/>
                </a:rPr>
                <a:t>Проблема </a:t>
              </a:r>
              <a:r>
                <a:rPr lang="en-US" sz="6000">
                  <a:solidFill>
                    <a:srgbClr val="FFC033"/>
                  </a:solidFill>
                  <a:latin typeface="Roboto Bold"/>
                </a:rPr>
                <a:t>пользователя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715129"/>
              <a:ext cx="11315646" cy="194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919"/>
                </a:lnSpc>
              </a:pPr>
              <a:r>
                <a:rPr lang="en-US" sz="2800">
                  <a:solidFill>
                    <a:srgbClr val="FFFFFF"/>
                  </a:solidFill>
                  <a:latin typeface="Roboto"/>
                </a:rPr>
                <a:t>В </a:t>
              </a:r>
              <a:r>
                <a:rPr lang="en-US" sz="2206">
                  <a:solidFill>
                    <a:srgbClr val="FFFFFF"/>
                  </a:solidFill>
                  <a:latin typeface="Roboto"/>
                </a:rPr>
                <a:t>компаниях с Open space часто возникают проблемы с поиском рабочего места для коллег, кофейных аппаратов, а также других вещей.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063014" y="572148"/>
            <a:ext cx="2763445" cy="768862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5826459" y="425089"/>
            <a:ext cx="1838668" cy="10629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60868"/>
            <a:ext cx="112078" cy="5810374"/>
            <a:chOff x="0" y="0"/>
            <a:chExt cx="149437" cy="7747165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86826" y="-448567"/>
            <a:ext cx="8664293" cy="9211134"/>
            <a:chOff x="0" y="0"/>
            <a:chExt cx="7974869" cy="8478197"/>
          </a:xfrm>
        </p:grpSpPr>
        <p:sp>
          <p:nvSpPr>
            <p:cNvPr name="Freeform 6" id="6"/>
            <p:cNvSpPr/>
            <p:nvPr/>
          </p:nvSpPr>
          <p:spPr>
            <a:xfrm>
              <a:off x="0" y="0"/>
              <a:ext cx="7974869" cy="8478197"/>
            </a:xfrm>
            <a:custGeom>
              <a:avLst/>
              <a:gdLst/>
              <a:ahLst/>
              <a:cxnLst/>
              <a:rect r="r" b="b" t="t" l="l"/>
              <a:pathLst>
                <a:path h="8478197" w="7974869">
                  <a:moveTo>
                    <a:pt x="767006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173397"/>
                  </a:lnTo>
                  <a:cubicBezTo>
                    <a:pt x="0" y="8342307"/>
                    <a:pt x="135890" y="8478197"/>
                    <a:pt x="304800" y="8478197"/>
                  </a:cubicBezTo>
                  <a:lnTo>
                    <a:pt x="7670069" y="8478197"/>
                  </a:lnTo>
                  <a:cubicBezTo>
                    <a:pt x="7838979" y="8478197"/>
                    <a:pt x="7974869" y="8342307"/>
                    <a:pt x="7974869" y="8173397"/>
                  </a:cubicBezTo>
                  <a:lnTo>
                    <a:pt x="7974869" y="304800"/>
                  </a:lnTo>
                  <a:cubicBezTo>
                    <a:pt x="7974869" y="135890"/>
                    <a:pt x="7838979" y="0"/>
                    <a:pt x="7670069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489138" y="1501985"/>
            <a:ext cx="3195375" cy="6322599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Freeform 9" id="9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6429" r="6380" t="3013" b="2915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Freeform 14" id="1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2E2E2E"/>
            </a:solidFill>
          </p:spPr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2816247" y="515030"/>
            <a:ext cx="2763445" cy="768862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5579692" y="294144"/>
            <a:ext cx="1776551" cy="1210634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2176364" y="3565004"/>
            <a:ext cx="5591893" cy="304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800"/>
              </a:lnSpc>
            </a:pPr>
            <a:r>
              <a:rPr lang="en-US" sz="3200" spc="96">
                <a:solidFill>
                  <a:srgbClr val="FFFFFF"/>
                </a:solidFill>
                <a:latin typeface="Roboto"/>
              </a:rPr>
              <a:t>Мы </a:t>
            </a:r>
            <a:r>
              <a:rPr lang="en-US" sz="3200" spc="96">
                <a:solidFill>
                  <a:srgbClr val="FFFFFF"/>
                </a:solidFill>
                <a:latin typeface="Roboto"/>
              </a:rPr>
              <a:t>предлагаем</a:t>
            </a:r>
            <a:r>
              <a:rPr lang="en-US" sz="3200" spc="96">
                <a:solidFill>
                  <a:srgbClr val="FFFFFF"/>
                </a:solidFill>
                <a:latin typeface="Roboto"/>
              </a:rPr>
              <a:t> решение – программу, с помощью которой можно создавать интерактивные карты помещений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05598" y="3421694"/>
            <a:ext cx="6133582" cy="216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470"/>
              </a:lnSpc>
            </a:pPr>
            <a:r>
              <a:rPr lang="en-US" sz="7700">
                <a:solidFill>
                  <a:srgbClr val="FFFFFF"/>
                </a:solidFill>
                <a:latin typeface="Roboto Bold"/>
              </a:rPr>
              <a:t>Что мы </a:t>
            </a:r>
            <a:r>
              <a:rPr lang="en-US" sz="7700">
                <a:solidFill>
                  <a:srgbClr val="FFC033"/>
                </a:solidFill>
                <a:latin typeface="Roboto Bold"/>
              </a:rPr>
              <a:t>предлагаем?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2965" y="4024710"/>
            <a:ext cx="955625" cy="44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60868"/>
            <a:ext cx="112078" cy="5810374"/>
            <a:chOff x="0" y="0"/>
            <a:chExt cx="149437" cy="7747165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941224" y="5588380"/>
            <a:ext cx="16533795" cy="5577551"/>
            <a:chOff x="0" y="0"/>
            <a:chExt cx="15902755" cy="5364674"/>
          </a:xfrm>
        </p:grpSpPr>
        <p:sp>
          <p:nvSpPr>
            <p:cNvPr name="Freeform 6" id="6"/>
            <p:cNvSpPr/>
            <p:nvPr/>
          </p:nvSpPr>
          <p:spPr>
            <a:xfrm>
              <a:off x="0" y="0"/>
              <a:ext cx="15902755" cy="5364674"/>
            </a:xfrm>
            <a:custGeom>
              <a:avLst/>
              <a:gdLst/>
              <a:ahLst/>
              <a:cxnLst/>
              <a:rect r="r" b="b" t="t" l="l"/>
              <a:pathLst>
                <a:path h="5364674" w="15902755">
                  <a:moveTo>
                    <a:pt x="1559795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5059874"/>
                  </a:lnTo>
                  <a:cubicBezTo>
                    <a:pt x="0" y="5228784"/>
                    <a:pt x="135890" y="5364674"/>
                    <a:pt x="304800" y="5364674"/>
                  </a:cubicBezTo>
                  <a:lnTo>
                    <a:pt x="15597955" y="5364674"/>
                  </a:lnTo>
                  <a:cubicBezTo>
                    <a:pt x="15766864" y="5364674"/>
                    <a:pt x="15902755" y="5228784"/>
                    <a:pt x="15902755" y="5059874"/>
                  </a:cubicBezTo>
                  <a:lnTo>
                    <a:pt x="15902755" y="304800"/>
                  </a:lnTo>
                  <a:cubicBezTo>
                    <a:pt x="15902755" y="135890"/>
                    <a:pt x="15766864" y="0"/>
                    <a:pt x="15597955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675365" y="2104432"/>
            <a:ext cx="10113318" cy="7529005"/>
            <a:chOff x="0" y="0"/>
            <a:chExt cx="13484424" cy="10038673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2"/>
            <a:srcRect l="3106" t="0" r="3106" b="0"/>
            <a:stretch>
              <a:fillRect/>
            </a:stretch>
          </p:blipFill>
          <p:spPr>
            <a:xfrm>
              <a:off x="0" y="0"/>
              <a:ext cx="4410141" cy="10038673"/>
            </a:xfrm>
            <a:prstGeom prst="rect">
              <a:avLst/>
            </a:prstGeom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3"/>
            <a:srcRect l="3847" t="0" r="3847" b="0"/>
            <a:stretch>
              <a:fillRect/>
            </a:stretch>
          </p:blipFill>
          <p:spPr>
            <a:xfrm>
              <a:off x="4537141" y="0"/>
              <a:ext cx="4410141" cy="10038673"/>
            </a:xfrm>
            <a:prstGeom prst="rect">
              <a:avLst/>
            </a:prstGeom>
          </p:spPr>
        </p:pic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4"/>
            <a:srcRect l="3322" t="0" r="3322" b="0"/>
            <a:stretch>
              <a:fillRect/>
            </a:stretch>
          </p:blipFill>
          <p:spPr>
            <a:xfrm>
              <a:off x="9074283" y="0"/>
              <a:ext cx="4410141" cy="10038673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9195425" y="3260164"/>
            <a:ext cx="1915644" cy="1055200"/>
            <a:chOff x="0" y="0"/>
            <a:chExt cx="2554192" cy="1406934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5"/>
            <a:srcRect l="3220" t="0" r="3220" b="0"/>
            <a:stretch>
              <a:fillRect/>
            </a:stretch>
          </p:blipFill>
          <p:spPr>
            <a:xfrm>
              <a:off x="0" y="0"/>
              <a:ext cx="2554192" cy="1406934"/>
            </a:xfrm>
            <a:prstGeom prst="rect">
              <a:avLst/>
            </a:prstGeom>
          </p:spPr>
        </p:pic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3025239" y="674684"/>
            <a:ext cx="2763445" cy="768862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15788684" y="543916"/>
            <a:ext cx="1838668" cy="106298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 rot="0">
            <a:off x="9195425" y="6827709"/>
            <a:ext cx="1915644" cy="1138328"/>
            <a:chOff x="0" y="0"/>
            <a:chExt cx="2554192" cy="1517770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8"/>
            <a:srcRect l="0" t="2640" r="0" b="2640"/>
            <a:stretch>
              <a:fillRect/>
            </a:stretch>
          </p:blipFill>
          <p:spPr>
            <a:xfrm>
              <a:off x="0" y="0"/>
              <a:ext cx="2554192" cy="1517770"/>
            </a:xfrm>
            <a:prstGeom prst="rect">
              <a:avLst/>
            </a:prstGeom>
          </p:spPr>
        </p:pic>
      </p:grpSp>
      <p:grpSp>
        <p:nvGrpSpPr>
          <p:cNvPr name="Group 17" id="17"/>
          <p:cNvGrpSpPr/>
          <p:nvPr/>
        </p:nvGrpSpPr>
        <p:grpSpPr>
          <a:xfrm rot="0">
            <a:off x="9195425" y="5003629"/>
            <a:ext cx="1915644" cy="1164305"/>
            <a:chOff x="0" y="0"/>
            <a:chExt cx="2554192" cy="1552407"/>
          </a:xfrm>
        </p:grpSpPr>
        <p:pic>
          <p:nvPicPr>
            <p:cNvPr name="Picture 18" id="18"/>
            <p:cNvPicPr>
              <a:picLocks noChangeAspect="true"/>
            </p:cNvPicPr>
            <p:nvPr/>
          </p:nvPicPr>
          <p:blipFill>
            <a:blip r:embed="rId9"/>
            <a:srcRect l="640" t="0" r="640" b="0"/>
            <a:stretch>
              <a:fillRect/>
            </a:stretch>
          </p:blipFill>
          <p:spPr>
            <a:xfrm>
              <a:off x="0" y="0"/>
              <a:ext cx="2554192" cy="1552407"/>
            </a:xfrm>
            <a:prstGeom prst="rect">
              <a:avLst/>
            </a:prstGeom>
          </p:spPr>
        </p:pic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589122" y="2246859"/>
            <a:ext cx="471447" cy="471445"/>
            <a:chOff x="0" y="0"/>
            <a:chExt cx="6350000" cy="6349975"/>
          </a:xfrm>
        </p:grpSpPr>
        <p:sp>
          <p:nvSpPr>
            <p:cNvPr name="Freeform 20" id="20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0"/>
              <a:stretch>
                <a:fillRect l="0" r="0" t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2965" y="4024710"/>
            <a:ext cx="955625" cy="44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90942" y="467716"/>
            <a:ext cx="9594913" cy="104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319"/>
              </a:lnSpc>
            </a:pPr>
            <a:r>
              <a:rPr lang="en-US" sz="6399">
                <a:solidFill>
                  <a:srgbClr val="FFFFFF"/>
                </a:solidFill>
                <a:latin typeface="Roboto Bold"/>
              </a:rPr>
              <a:t>Интерфейс </a:t>
            </a:r>
            <a:r>
              <a:rPr lang="en-US" sz="6399">
                <a:solidFill>
                  <a:srgbClr val="FFC033"/>
                </a:solidFill>
                <a:latin typeface="Roboto Bold"/>
              </a:rPr>
              <a:t>приложения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41224" y="1937321"/>
            <a:ext cx="16533795" cy="9228610"/>
            <a:chOff x="0" y="0"/>
            <a:chExt cx="15902755" cy="8876384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15902755" cy="8876385"/>
            </a:xfrm>
            <a:custGeom>
              <a:avLst/>
              <a:gdLst/>
              <a:ahLst/>
              <a:cxnLst/>
              <a:rect r="r" b="b" t="t" l="l"/>
              <a:pathLst>
                <a:path h="8876385" w="15902755">
                  <a:moveTo>
                    <a:pt x="1559795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71585"/>
                  </a:lnTo>
                  <a:cubicBezTo>
                    <a:pt x="0" y="8740494"/>
                    <a:pt x="135890" y="8876385"/>
                    <a:pt x="304800" y="8876385"/>
                  </a:cubicBezTo>
                  <a:lnTo>
                    <a:pt x="15597955" y="8876385"/>
                  </a:lnTo>
                  <a:cubicBezTo>
                    <a:pt x="15766864" y="8876385"/>
                    <a:pt x="15902755" y="8740494"/>
                    <a:pt x="15902755" y="8571585"/>
                  </a:cubicBezTo>
                  <a:lnTo>
                    <a:pt x="15902755" y="304800"/>
                  </a:lnTo>
                  <a:cubicBezTo>
                    <a:pt x="15902755" y="135890"/>
                    <a:pt x="15766864" y="0"/>
                    <a:pt x="15597955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91360" y="2503544"/>
            <a:ext cx="12414028" cy="7188667"/>
            <a:chOff x="0" y="0"/>
            <a:chExt cx="16552038" cy="9584889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t="92" r="0" b="92"/>
            <a:stretch>
              <a:fillRect/>
            </a:stretch>
          </p:blipFill>
          <p:spPr>
            <a:xfrm>
              <a:off x="0" y="0"/>
              <a:ext cx="5432679" cy="9584889"/>
            </a:xfrm>
            <a:prstGeom prst="rect">
              <a:avLst/>
            </a:prstGeom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0" t="599" r="0" b="599"/>
            <a:stretch>
              <a:fillRect/>
            </a:stretch>
          </p:blipFill>
          <p:spPr>
            <a:xfrm>
              <a:off x="5559679" y="0"/>
              <a:ext cx="5432679" cy="9584889"/>
            </a:xfrm>
            <a:prstGeom prst="rect">
              <a:avLst/>
            </a:prstGeom>
          </p:spPr>
        </p:pic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0" t="489" r="0" b="489"/>
            <a:stretch>
              <a:fillRect/>
            </a:stretch>
          </p:blipFill>
          <p:spPr>
            <a:xfrm>
              <a:off x="11119358" y="0"/>
              <a:ext cx="5432679" cy="9584889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1028700" y="5460868"/>
            <a:ext cx="112078" cy="5810374"/>
            <a:chOff x="0" y="0"/>
            <a:chExt cx="149437" cy="7747165"/>
          </a:xfrm>
        </p:grpSpPr>
        <p:sp>
          <p:nvSpPr>
            <p:cNvPr name="AutoShape 9" id="9"/>
            <p:cNvSpPr/>
            <p:nvPr/>
          </p:nvSpPr>
          <p:spPr>
            <a:xfrm rot="0"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name="AutoShape 10" id="10"/>
            <p:cNvSpPr/>
            <p:nvPr/>
          </p:nvSpPr>
          <p:spPr>
            <a:xfrm rot="0"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3063014" y="572148"/>
            <a:ext cx="2763445" cy="768862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5840283" y="425089"/>
            <a:ext cx="1838668" cy="106298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62965" y="4024710"/>
            <a:ext cx="955625" cy="44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3276" y="454924"/>
            <a:ext cx="10701995" cy="103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7810"/>
              </a:lnSpc>
            </a:pPr>
            <a:r>
              <a:rPr lang="en-US" sz="7100">
                <a:solidFill>
                  <a:srgbClr val="FFFFFF"/>
                </a:solidFill>
                <a:latin typeface="Roboto Bold"/>
              </a:rPr>
              <a:t>Демонстрация </a:t>
            </a:r>
            <a:r>
              <a:rPr lang="en-US" sz="7100">
                <a:solidFill>
                  <a:srgbClr val="FFC033"/>
                </a:solidFill>
                <a:latin typeface="Roboto Bold"/>
              </a:rPr>
              <a:t>решения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60868"/>
            <a:ext cx="112078" cy="5810374"/>
            <a:chOff x="0" y="0"/>
            <a:chExt cx="149437" cy="7747165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217324" y="-296711"/>
            <a:ext cx="16286730" cy="7442828"/>
            <a:chOff x="0" y="0"/>
            <a:chExt cx="15665120" cy="7158760"/>
          </a:xfrm>
        </p:grpSpPr>
        <p:sp>
          <p:nvSpPr>
            <p:cNvPr name="Freeform 6" id="6"/>
            <p:cNvSpPr/>
            <p:nvPr/>
          </p:nvSpPr>
          <p:spPr>
            <a:xfrm>
              <a:off x="0" y="0"/>
              <a:ext cx="15665120" cy="7158760"/>
            </a:xfrm>
            <a:custGeom>
              <a:avLst/>
              <a:gdLst/>
              <a:ahLst/>
              <a:cxnLst/>
              <a:rect r="r" b="b" t="t" l="l"/>
              <a:pathLst>
                <a:path h="7158760" w="15665120">
                  <a:moveTo>
                    <a:pt x="1536032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6853960"/>
                  </a:lnTo>
                  <a:cubicBezTo>
                    <a:pt x="0" y="7022871"/>
                    <a:pt x="135890" y="7158760"/>
                    <a:pt x="304800" y="7158760"/>
                  </a:cubicBezTo>
                  <a:lnTo>
                    <a:pt x="15360320" y="7158760"/>
                  </a:lnTo>
                  <a:cubicBezTo>
                    <a:pt x="15529230" y="7158760"/>
                    <a:pt x="15665120" y="7022871"/>
                    <a:pt x="15665120" y="6853960"/>
                  </a:cubicBezTo>
                  <a:lnTo>
                    <a:pt x="15665120" y="304800"/>
                  </a:lnTo>
                  <a:cubicBezTo>
                    <a:pt x="15665120" y="135890"/>
                    <a:pt x="15529230" y="0"/>
                    <a:pt x="1536032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1398004" y="2004239"/>
            <a:ext cx="8788531" cy="8788531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0" r="0" t="-24990" b="-25010"/>
              </a:stretch>
            </a:blipFill>
          </p:spPr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3063014" y="474186"/>
            <a:ext cx="2763445" cy="768862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16451" y="4192084"/>
            <a:ext cx="955625" cy="44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82267" y="3618164"/>
            <a:ext cx="6876212" cy="113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800"/>
              </a:lnSpc>
            </a:pPr>
            <a:r>
              <a:rPr lang="en-US" sz="8000">
                <a:solidFill>
                  <a:srgbClr val="FFFFFF"/>
                </a:solidFill>
                <a:latin typeface="Roboto Bold"/>
              </a:rPr>
              <a:t>Перспективы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82267" y="8371984"/>
            <a:ext cx="654480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spc="90">
                <a:solidFill>
                  <a:srgbClr val="FFFFFF"/>
                </a:solidFill>
                <a:latin typeface="Roboto"/>
              </a:rPr>
              <a:t>Новый кейс - новые возможности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5826459" y="253300"/>
            <a:ext cx="1776551" cy="12106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60868"/>
            <a:ext cx="112078" cy="5810374"/>
            <a:chOff x="0" y="0"/>
            <a:chExt cx="149437" cy="7747165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62965" y="4024710"/>
            <a:ext cx="955625" cy="44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41224" y="979250"/>
            <a:ext cx="10831865" cy="104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320"/>
              </a:lnSpc>
            </a:pPr>
            <a:r>
              <a:rPr lang="en-US" sz="6400">
                <a:solidFill>
                  <a:srgbClr val="FFFFFF"/>
                </a:solidFill>
                <a:latin typeface="Roboto Bold"/>
              </a:rPr>
              <a:t>Затраты </a:t>
            </a:r>
            <a:r>
              <a:rPr lang="en-US" sz="2206">
                <a:solidFill>
                  <a:srgbClr val="FFFFFF"/>
                </a:solidFill>
                <a:latin typeface="Roboto Bold"/>
              </a:rPr>
              <a:t>на проект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941224" y="3092646"/>
            <a:ext cx="7791899" cy="2948666"/>
            <a:chOff x="0" y="0"/>
            <a:chExt cx="7494508" cy="2836125"/>
          </a:xfrm>
        </p:grpSpPr>
        <p:sp>
          <p:nvSpPr>
            <p:cNvPr name="Freeform 8" id="8"/>
            <p:cNvSpPr/>
            <p:nvPr/>
          </p:nvSpPr>
          <p:spPr>
            <a:xfrm>
              <a:off x="0" y="0"/>
              <a:ext cx="7494508" cy="2836125"/>
            </a:xfrm>
            <a:custGeom>
              <a:avLst/>
              <a:gdLst/>
              <a:ahLst/>
              <a:cxnLst/>
              <a:rect r="r" b="b" t="t" l="l"/>
              <a:pathLst>
                <a:path h="2836125" w="7494508">
                  <a:moveTo>
                    <a:pt x="7189708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531325"/>
                  </a:lnTo>
                  <a:cubicBezTo>
                    <a:pt x="0" y="2700235"/>
                    <a:pt x="135890" y="2836125"/>
                    <a:pt x="304800" y="2836125"/>
                  </a:cubicBezTo>
                  <a:lnTo>
                    <a:pt x="7189708" y="2836125"/>
                  </a:lnTo>
                  <a:cubicBezTo>
                    <a:pt x="7358618" y="2836125"/>
                    <a:pt x="7494508" y="2700235"/>
                    <a:pt x="7494508" y="2531325"/>
                  </a:cubicBezTo>
                  <a:lnTo>
                    <a:pt x="7494508" y="304800"/>
                  </a:lnTo>
                  <a:cubicBezTo>
                    <a:pt x="7494508" y="135890"/>
                    <a:pt x="7358618" y="0"/>
                    <a:pt x="7189708" y="0"/>
                  </a:cubicBezTo>
                  <a:close/>
                </a:path>
              </a:pathLst>
            </a:custGeom>
            <a:solidFill>
              <a:srgbClr val="FFC03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941224" y="6698393"/>
            <a:ext cx="7791899" cy="2948666"/>
            <a:chOff x="0" y="0"/>
            <a:chExt cx="7494508" cy="2836125"/>
          </a:xfrm>
        </p:grpSpPr>
        <p:sp>
          <p:nvSpPr>
            <p:cNvPr name="Freeform 10" id="10"/>
            <p:cNvSpPr/>
            <p:nvPr/>
          </p:nvSpPr>
          <p:spPr>
            <a:xfrm>
              <a:off x="0" y="0"/>
              <a:ext cx="7494508" cy="2836125"/>
            </a:xfrm>
            <a:custGeom>
              <a:avLst/>
              <a:gdLst/>
              <a:ahLst/>
              <a:cxnLst/>
              <a:rect r="r" b="b" t="t" l="l"/>
              <a:pathLst>
                <a:path h="2836125" w="7494508">
                  <a:moveTo>
                    <a:pt x="7189708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531325"/>
                  </a:lnTo>
                  <a:cubicBezTo>
                    <a:pt x="0" y="2700235"/>
                    <a:pt x="135890" y="2836125"/>
                    <a:pt x="304800" y="2836125"/>
                  </a:cubicBezTo>
                  <a:lnTo>
                    <a:pt x="7189708" y="2836125"/>
                  </a:lnTo>
                  <a:cubicBezTo>
                    <a:pt x="7358618" y="2836125"/>
                    <a:pt x="7494508" y="2700235"/>
                    <a:pt x="7494508" y="2531325"/>
                  </a:cubicBezTo>
                  <a:lnTo>
                    <a:pt x="7494508" y="304800"/>
                  </a:lnTo>
                  <a:cubicBezTo>
                    <a:pt x="7494508" y="135890"/>
                    <a:pt x="7358618" y="0"/>
                    <a:pt x="7189708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326670" y="3092646"/>
            <a:ext cx="7791899" cy="2948666"/>
            <a:chOff x="0" y="0"/>
            <a:chExt cx="7494508" cy="2836125"/>
          </a:xfrm>
        </p:grpSpPr>
        <p:sp>
          <p:nvSpPr>
            <p:cNvPr name="Freeform 12" id="12"/>
            <p:cNvSpPr/>
            <p:nvPr/>
          </p:nvSpPr>
          <p:spPr>
            <a:xfrm>
              <a:off x="0" y="0"/>
              <a:ext cx="7494508" cy="2836125"/>
            </a:xfrm>
            <a:custGeom>
              <a:avLst/>
              <a:gdLst/>
              <a:ahLst/>
              <a:cxnLst/>
              <a:rect r="r" b="b" t="t" l="l"/>
              <a:pathLst>
                <a:path h="2836125" w="7494508">
                  <a:moveTo>
                    <a:pt x="7189708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531325"/>
                  </a:lnTo>
                  <a:cubicBezTo>
                    <a:pt x="0" y="2700235"/>
                    <a:pt x="135890" y="2836125"/>
                    <a:pt x="304800" y="2836125"/>
                  </a:cubicBezTo>
                  <a:lnTo>
                    <a:pt x="7189708" y="2836125"/>
                  </a:lnTo>
                  <a:cubicBezTo>
                    <a:pt x="7358618" y="2836125"/>
                    <a:pt x="7494508" y="2700235"/>
                    <a:pt x="7494508" y="2531325"/>
                  </a:cubicBezTo>
                  <a:lnTo>
                    <a:pt x="7494508" y="304800"/>
                  </a:lnTo>
                  <a:cubicBezTo>
                    <a:pt x="7494508" y="135890"/>
                    <a:pt x="7358618" y="0"/>
                    <a:pt x="7189708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326670" y="6698393"/>
            <a:ext cx="7791899" cy="2948666"/>
            <a:chOff x="0" y="0"/>
            <a:chExt cx="7494508" cy="2836125"/>
          </a:xfrm>
        </p:grpSpPr>
        <p:sp>
          <p:nvSpPr>
            <p:cNvPr name="Freeform 14" id="14"/>
            <p:cNvSpPr/>
            <p:nvPr/>
          </p:nvSpPr>
          <p:spPr>
            <a:xfrm>
              <a:off x="0" y="0"/>
              <a:ext cx="7494508" cy="2836125"/>
            </a:xfrm>
            <a:custGeom>
              <a:avLst/>
              <a:gdLst/>
              <a:ahLst/>
              <a:cxnLst/>
              <a:rect r="r" b="b" t="t" l="l"/>
              <a:pathLst>
                <a:path h="2836125" w="7494508">
                  <a:moveTo>
                    <a:pt x="7189708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531325"/>
                  </a:lnTo>
                  <a:cubicBezTo>
                    <a:pt x="0" y="2700235"/>
                    <a:pt x="135890" y="2836125"/>
                    <a:pt x="304800" y="2836125"/>
                  </a:cubicBezTo>
                  <a:lnTo>
                    <a:pt x="7189708" y="2836125"/>
                  </a:lnTo>
                  <a:cubicBezTo>
                    <a:pt x="7358618" y="2836125"/>
                    <a:pt x="7494508" y="2700235"/>
                    <a:pt x="7494508" y="2531325"/>
                  </a:cubicBezTo>
                  <a:lnTo>
                    <a:pt x="7494508" y="304800"/>
                  </a:lnTo>
                  <a:cubicBezTo>
                    <a:pt x="7494508" y="135890"/>
                    <a:pt x="7358618" y="0"/>
                    <a:pt x="7189708" y="0"/>
                  </a:cubicBezTo>
                  <a:close/>
                </a:path>
              </a:pathLst>
            </a:custGeom>
            <a:solidFill>
              <a:srgbClr val="FFC03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84562" y="3721891"/>
            <a:ext cx="5528325" cy="1690175"/>
            <a:chOff x="0" y="0"/>
            <a:chExt cx="7371101" cy="22535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85725"/>
              <a:ext cx="737110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2E2E2E"/>
                  </a:solidFill>
                  <a:latin typeface="Roboto Bold"/>
                </a:rPr>
                <a:t>Шведенко Александр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59767"/>
              <a:ext cx="7371101" cy="1193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750"/>
                </a:lnSpc>
              </a:pPr>
              <a:r>
                <a:rPr lang="en-US" sz="2499" spc="49">
                  <a:solidFill>
                    <a:srgbClr val="2E2E2E"/>
                  </a:solidFill>
                  <a:latin typeface="Roboto"/>
                </a:rPr>
                <a:t>30 часов на работу</a:t>
              </a:r>
            </a:p>
            <a:p>
              <a:pPr>
                <a:lnSpc>
                  <a:spcPts val="3749"/>
                </a:lnSpc>
              </a:pPr>
              <a:r>
                <a:rPr lang="en-US" sz="2500" spc="50">
                  <a:solidFill>
                    <a:srgbClr val="2E2E2E"/>
                  </a:solidFill>
                  <a:latin typeface="Roboto"/>
                </a:rPr>
                <a:t>6 часов на обучение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54856" y="7422595"/>
            <a:ext cx="5528325" cy="1690175"/>
            <a:chOff x="0" y="0"/>
            <a:chExt cx="7371101" cy="225356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85725"/>
              <a:ext cx="737110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2E2E2E"/>
                  </a:solidFill>
                  <a:latin typeface="Roboto Bold"/>
                </a:rPr>
                <a:t>Волосовец Даниил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059767"/>
              <a:ext cx="7371101" cy="1193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750"/>
                </a:lnSpc>
              </a:pPr>
              <a:r>
                <a:rPr lang="en-US" sz="2499" spc="49">
                  <a:solidFill>
                    <a:srgbClr val="2E2E2E"/>
                  </a:solidFill>
                  <a:latin typeface="Roboto"/>
                </a:rPr>
                <a:t>4 часа на работу</a:t>
              </a:r>
            </a:p>
            <a:p>
              <a:pPr>
                <a:lnSpc>
                  <a:spcPts val="3749"/>
                </a:lnSpc>
              </a:pPr>
              <a:r>
                <a:rPr lang="en-US" sz="2500" spc="50">
                  <a:solidFill>
                    <a:srgbClr val="2E2E2E"/>
                  </a:solidFill>
                  <a:latin typeface="Roboto"/>
                </a:rPr>
                <a:t>1 час на обучение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54856" y="3721891"/>
            <a:ext cx="5528325" cy="1690175"/>
            <a:chOff x="0" y="0"/>
            <a:chExt cx="7371101" cy="2253567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85725"/>
              <a:ext cx="737110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FFFFFF"/>
                  </a:solidFill>
                  <a:latin typeface="Roboto Bold"/>
                </a:rPr>
                <a:t>Джинория Денис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059767"/>
              <a:ext cx="7371101" cy="1193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750"/>
                </a:lnSpc>
              </a:pPr>
              <a:r>
                <a:rPr lang="en-US" sz="2499" spc="49">
                  <a:solidFill>
                    <a:srgbClr val="FFFFFF"/>
                  </a:solidFill>
                  <a:latin typeface="Roboto"/>
                </a:rPr>
                <a:t>18 часов на работу</a:t>
              </a:r>
            </a:p>
            <a:p>
              <a:pPr>
                <a:lnSpc>
                  <a:spcPts val="3749"/>
                </a:lnSpc>
              </a:pPr>
              <a:r>
                <a:rPr lang="en-US" sz="2500" spc="50">
                  <a:solidFill>
                    <a:srgbClr val="FFFFFF"/>
                  </a:solidFill>
                  <a:latin typeface="Roboto"/>
                </a:rPr>
                <a:t>10 часов на обучение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84562" y="7327638"/>
            <a:ext cx="5528325" cy="1690175"/>
            <a:chOff x="0" y="0"/>
            <a:chExt cx="7371101" cy="2253567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85725"/>
              <a:ext cx="737110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FFFFFF"/>
                  </a:solidFill>
                  <a:latin typeface="Roboto Bold"/>
                </a:rPr>
                <a:t>Бородин родион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059767"/>
              <a:ext cx="7371101" cy="1193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750"/>
                </a:lnSpc>
              </a:pPr>
              <a:r>
                <a:rPr lang="en-US" sz="2499" spc="49">
                  <a:solidFill>
                    <a:srgbClr val="FFFFFF"/>
                  </a:solidFill>
                  <a:latin typeface="Roboto"/>
                </a:rPr>
                <a:t>12 часов на работу</a:t>
              </a:r>
            </a:p>
            <a:p>
              <a:pPr>
                <a:lnSpc>
                  <a:spcPts val="3749"/>
                </a:lnSpc>
              </a:pPr>
              <a:r>
                <a:rPr lang="en-US" sz="2500" spc="50">
                  <a:solidFill>
                    <a:srgbClr val="FFFFFF"/>
                  </a:solidFill>
                  <a:latin typeface="Roboto"/>
                </a:rPr>
                <a:t>6 часов на обучение</a:t>
              </a:r>
            </a:p>
          </p:txBody>
        </p:sp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851110" y="738354"/>
            <a:ext cx="2763445" cy="768862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5744514" y="591295"/>
            <a:ext cx="1838668" cy="1062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60868"/>
            <a:ext cx="112078" cy="5810374"/>
            <a:chOff x="0" y="0"/>
            <a:chExt cx="149437" cy="7747165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695433" y="2284689"/>
            <a:ext cx="9876259" cy="9685665"/>
            <a:chOff x="0" y="0"/>
            <a:chExt cx="9499315" cy="9315996"/>
          </a:xfrm>
        </p:grpSpPr>
        <p:sp>
          <p:nvSpPr>
            <p:cNvPr name="Freeform 6" id="6"/>
            <p:cNvSpPr/>
            <p:nvPr/>
          </p:nvSpPr>
          <p:spPr>
            <a:xfrm>
              <a:off x="0" y="0"/>
              <a:ext cx="9499316" cy="9315996"/>
            </a:xfrm>
            <a:custGeom>
              <a:avLst/>
              <a:gdLst/>
              <a:ahLst/>
              <a:cxnLst/>
              <a:rect r="r" b="b" t="t" l="l"/>
              <a:pathLst>
                <a:path h="9315996" w="9499316">
                  <a:moveTo>
                    <a:pt x="919451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9011196"/>
                  </a:lnTo>
                  <a:cubicBezTo>
                    <a:pt x="0" y="9180106"/>
                    <a:pt x="135890" y="9315996"/>
                    <a:pt x="304800" y="9315996"/>
                  </a:cubicBezTo>
                  <a:lnTo>
                    <a:pt x="9194516" y="9315996"/>
                  </a:lnTo>
                  <a:cubicBezTo>
                    <a:pt x="9363425" y="9315996"/>
                    <a:pt x="9499316" y="9180106"/>
                    <a:pt x="9499316" y="9011196"/>
                  </a:cubicBezTo>
                  <a:lnTo>
                    <a:pt x="9499316" y="304800"/>
                  </a:lnTo>
                  <a:cubicBezTo>
                    <a:pt x="9499316" y="135890"/>
                    <a:pt x="9363425" y="0"/>
                    <a:pt x="9194516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98634" y="2858883"/>
            <a:ext cx="5772750" cy="314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319"/>
              </a:lnSpc>
            </a:pPr>
            <a:r>
              <a:rPr lang="en-US" sz="6399">
                <a:solidFill>
                  <a:srgbClr val="FFFFFF"/>
                </a:solidFill>
                <a:latin typeface="Roboto Bold"/>
              </a:rPr>
              <a:t>Как </a:t>
            </a:r>
            <a:r>
              <a:rPr lang="en-US" sz="2206">
                <a:solidFill>
                  <a:srgbClr val="FFFFFF"/>
                </a:solidFill>
                <a:latin typeface="Roboto Bold"/>
              </a:rPr>
              <a:t>была устроена</a:t>
            </a:r>
            <a:r>
              <a:rPr lang="en-US" sz="6399">
                <a:solidFill>
                  <a:srgbClr val="FFFFFF"/>
                </a:solidFill>
                <a:latin typeface="Roboto Bold"/>
              </a:rPr>
              <a:t> </a:t>
            </a:r>
            <a:r>
              <a:rPr lang="en-US" sz="6399">
                <a:solidFill>
                  <a:srgbClr val="FFC033"/>
                </a:solidFill>
                <a:latin typeface="Roboto Bold"/>
              </a:rPr>
              <a:t>работа?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96395" y="3011830"/>
            <a:ext cx="713431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600"/>
              </a:lnSpc>
            </a:pPr>
            <a:r>
              <a:rPr lang="en-US" sz="4000">
                <a:solidFill>
                  <a:srgbClr val="FFC033"/>
                </a:solidFill>
                <a:latin typeface="Roboto Bold"/>
              </a:rPr>
              <a:t>Шведенко Александр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96395" y="3767284"/>
            <a:ext cx="7134311" cy="37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099" spc="62">
                <a:solidFill>
                  <a:srgbClr val="FFFFFF"/>
                </a:solidFill>
                <a:latin typeface="Roboto"/>
              </a:rPr>
              <a:t>Лидер, разработчик, составитель документации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98634" y="7099426"/>
            <a:ext cx="6025269" cy="245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Roboto"/>
              </a:rPr>
              <a:t>В к</a:t>
            </a:r>
            <a:r>
              <a:rPr lang="en-US" sz="2206">
                <a:solidFill>
                  <a:srgbClr val="FFFFFF"/>
                </a:solidFill>
                <a:latin typeface="Roboto"/>
              </a:rPr>
              <a:t>ачестве</a:t>
            </a:r>
            <a:r>
              <a:rPr lang="en-US" sz="2800">
                <a:solidFill>
                  <a:srgbClr val="FFFFFF"/>
                </a:solidFill>
                <a:latin typeface="Roboto"/>
              </a:rPr>
              <a:t> инструмента для разработки программы использовался игровой движок Unity. Для разработки интерфейса использовалась программа figma.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2965" y="4024710"/>
            <a:ext cx="955625" cy="44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08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96395" y="4940015"/>
            <a:ext cx="7134311" cy="1041704"/>
            <a:chOff x="0" y="0"/>
            <a:chExt cx="9512415" cy="138893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85725"/>
              <a:ext cx="9512415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FFC033"/>
                  </a:solidFill>
                  <a:latin typeface="Roboto Bold"/>
                </a:rPr>
                <a:t>Джинория Денис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15197"/>
              <a:ext cx="9512415" cy="473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9"/>
                </a:lnSpc>
                <a:spcBef>
                  <a:spcPct val="0"/>
                </a:spcBef>
              </a:pPr>
              <a:r>
                <a:rPr lang="en-US" sz="2099" spc="62">
                  <a:solidFill>
                    <a:srgbClr val="FFFFFF"/>
                  </a:solidFill>
                  <a:latin typeface="Roboto"/>
                </a:rPr>
                <a:t>Разработчик, составитель документации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96395" y="6499880"/>
            <a:ext cx="7134311" cy="1041704"/>
            <a:chOff x="0" y="0"/>
            <a:chExt cx="9512415" cy="138893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85725"/>
              <a:ext cx="9512415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FFC033"/>
                  </a:solidFill>
                  <a:latin typeface="Roboto Bold"/>
                </a:rPr>
                <a:t>Бородин Родион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15197"/>
              <a:ext cx="9512415" cy="473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9"/>
                </a:lnSpc>
                <a:spcBef>
                  <a:spcPct val="0"/>
                </a:spcBef>
              </a:pPr>
              <a:r>
                <a:rPr lang="en-US" sz="2099" spc="62">
                  <a:solidFill>
                    <a:srgbClr val="FFFFFF"/>
                  </a:solidFill>
                  <a:latin typeface="Roboto"/>
                </a:rPr>
                <a:t>Разработчик, дизайнер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96395" y="8120192"/>
            <a:ext cx="7134311" cy="1041704"/>
            <a:chOff x="0" y="0"/>
            <a:chExt cx="9512415" cy="1388939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85725"/>
              <a:ext cx="9512415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FFC033"/>
                  </a:solidFill>
                  <a:latin typeface="Roboto Bold"/>
                </a:rPr>
                <a:t>Волосовец Даниил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915197"/>
              <a:ext cx="9512415" cy="473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9"/>
                </a:lnSpc>
                <a:spcBef>
                  <a:spcPct val="0"/>
                </a:spcBef>
              </a:pPr>
              <a:r>
                <a:rPr lang="en-US" sz="2099" spc="62">
                  <a:solidFill>
                    <a:srgbClr val="FFFFFF"/>
                  </a:solidFill>
                  <a:latin typeface="Roboto"/>
                </a:rPr>
                <a:t>Разработчик</a:t>
              </a:r>
            </a:p>
          </p:txBody>
        </p:sp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837095" y="793494"/>
            <a:ext cx="2763445" cy="768862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5819040" y="646435"/>
            <a:ext cx="1838668" cy="10629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60868"/>
            <a:ext cx="112078" cy="5810374"/>
            <a:chOff x="0" y="0"/>
            <a:chExt cx="149437" cy="7747165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06926" y="4054658"/>
            <a:ext cx="955625" cy="44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71770" y="952500"/>
            <a:ext cx="10540258" cy="104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320"/>
              </a:lnSpc>
            </a:pPr>
            <a:r>
              <a:rPr lang="en-US" sz="6400">
                <a:solidFill>
                  <a:srgbClr val="FFFFFF"/>
                </a:solidFill>
                <a:latin typeface="Roboto Bold"/>
              </a:rPr>
              <a:t>Чему мы </a:t>
            </a:r>
            <a:r>
              <a:rPr lang="en-US" sz="6400">
                <a:solidFill>
                  <a:srgbClr val="FFC033"/>
                </a:solidFill>
                <a:latin typeface="Roboto Bold"/>
              </a:rPr>
              <a:t>научились?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71770" y="2702902"/>
            <a:ext cx="4950373" cy="3051519"/>
            <a:chOff x="0" y="0"/>
            <a:chExt cx="7506272" cy="4627032"/>
          </a:xfrm>
        </p:grpSpPr>
        <p:sp>
          <p:nvSpPr>
            <p:cNvPr name="Freeform 8" id="8"/>
            <p:cNvSpPr/>
            <p:nvPr/>
          </p:nvSpPr>
          <p:spPr>
            <a:xfrm>
              <a:off x="0" y="0"/>
              <a:ext cx="7506272" cy="4627032"/>
            </a:xfrm>
            <a:custGeom>
              <a:avLst/>
              <a:gdLst/>
              <a:ahLst/>
              <a:cxnLst/>
              <a:rect r="r" b="b" t="t" l="l"/>
              <a:pathLst>
                <a:path h="4627032" w="7506272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4322232"/>
                  </a:lnTo>
                  <a:cubicBezTo>
                    <a:pt x="0" y="4491142"/>
                    <a:pt x="135890" y="4627032"/>
                    <a:pt x="304800" y="4627032"/>
                  </a:cubicBezTo>
                  <a:lnTo>
                    <a:pt x="7201472" y="4627032"/>
                  </a:lnTo>
                  <a:cubicBezTo>
                    <a:pt x="7370382" y="4627032"/>
                    <a:pt x="7506272" y="4491142"/>
                    <a:pt x="7506272" y="4322232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FFC03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671770" y="6310420"/>
            <a:ext cx="4950373" cy="4187890"/>
            <a:chOff x="0" y="0"/>
            <a:chExt cx="7506272" cy="6350116"/>
          </a:xfrm>
        </p:grpSpPr>
        <p:sp>
          <p:nvSpPr>
            <p:cNvPr name="Freeform 10" id="10"/>
            <p:cNvSpPr/>
            <p:nvPr/>
          </p:nvSpPr>
          <p:spPr>
            <a:xfrm>
              <a:off x="0" y="0"/>
              <a:ext cx="7506272" cy="6350116"/>
            </a:xfrm>
            <a:custGeom>
              <a:avLst/>
              <a:gdLst/>
              <a:ahLst/>
              <a:cxnLst/>
              <a:rect r="r" b="b" t="t" l="l"/>
              <a:pathLst>
                <a:path h="6350116" w="7506272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6045316"/>
                  </a:lnTo>
                  <a:cubicBezTo>
                    <a:pt x="0" y="6214226"/>
                    <a:pt x="135890" y="6350116"/>
                    <a:pt x="304800" y="6350116"/>
                  </a:cubicBezTo>
                  <a:lnTo>
                    <a:pt x="7201472" y="6350116"/>
                  </a:lnTo>
                  <a:cubicBezTo>
                    <a:pt x="7370382" y="6350116"/>
                    <a:pt x="7506272" y="6214226"/>
                    <a:pt x="7506272" y="6045316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280882" y="3107925"/>
            <a:ext cx="3732150" cy="2241475"/>
            <a:chOff x="0" y="0"/>
            <a:chExt cx="4976200" cy="298863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85725"/>
              <a:ext cx="4976200" cy="894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17"/>
                </a:lnSpc>
              </a:pPr>
              <a:r>
                <a:rPr lang="en-US" sz="4012">
                  <a:solidFill>
                    <a:srgbClr val="2E2E2E"/>
                  </a:solidFill>
                  <a:latin typeface="Roboto Bold"/>
                </a:rPr>
                <a:t>Unity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90937"/>
              <a:ext cx="4976200" cy="1997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012"/>
                </a:lnSpc>
              </a:pPr>
              <a:r>
                <a:rPr lang="en-US" sz="2674" spc="-149">
                  <a:solidFill>
                    <a:srgbClr val="2E2E2E"/>
                  </a:solidFill>
                  <a:latin typeface="Roboto"/>
                </a:rPr>
                <a:t>Усовершенствовали навыки работы с игровым движком unity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80882" y="6890792"/>
            <a:ext cx="4135295" cy="2769294"/>
            <a:chOff x="0" y="0"/>
            <a:chExt cx="5513727" cy="369239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85725"/>
              <a:ext cx="5513727" cy="889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14"/>
                </a:lnSpc>
              </a:pPr>
              <a:r>
                <a:rPr lang="en-US" sz="4010">
                  <a:solidFill>
                    <a:srgbClr val="FFFFFF"/>
                  </a:solidFill>
                  <a:latin typeface="Roboto Bold"/>
                </a:rPr>
                <a:t>Дизайн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40378"/>
              <a:ext cx="5513727" cy="2652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005"/>
                </a:lnSpc>
              </a:pPr>
              <a:r>
                <a:rPr lang="en-US" sz="2670">
                  <a:solidFill>
                    <a:srgbClr val="FFFFFF"/>
                  </a:solidFill>
                  <a:latin typeface="Roboto"/>
                </a:rPr>
                <a:t>Были приобретены навыки работы с интерфейсом в программе figma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821635" y="2732851"/>
            <a:ext cx="4950373" cy="3051519"/>
            <a:chOff x="0" y="0"/>
            <a:chExt cx="7506272" cy="4627032"/>
          </a:xfrm>
        </p:grpSpPr>
        <p:sp>
          <p:nvSpPr>
            <p:cNvPr name="Freeform 18" id="18"/>
            <p:cNvSpPr/>
            <p:nvPr/>
          </p:nvSpPr>
          <p:spPr>
            <a:xfrm>
              <a:off x="0" y="0"/>
              <a:ext cx="7506272" cy="4627032"/>
            </a:xfrm>
            <a:custGeom>
              <a:avLst/>
              <a:gdLst/>
              <a:ahLst/>
              <a:cxnLst/>
              <a:rect r="r" b="b" t="t" l="l"/>
              <a:pathLst>
                <a:path h="4627032" w="7506272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4322232"/>
                  </a:lnTo>
                  <a:cubicBezTo>
                    <a:pt x="0" y="4491142"/>
                    <a:pt x="135890" y="4627032"/>
                    <a:pt x="304800" y="4627032"/>
                  </a:cubicBezTo>
                  <a:lnTo>
                    <a:pt x="7201472" y="4627032"/>
                  </a:lnTo>
                  <a:cubicBezTo>
                    <a:pt x="7370382" y="4627032"/>
                    <a:pt x="7506272" y="4491142"/>
                    <a:pt x="7506272" y="4322232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FFC03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493045" y="2996415"/>
            <a:ext cx="3794955" cy="2464494"/>
            <a:chOff x="0" y="0"/>
            <a:chExt cx="5059939" cy="3285992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85725"/>
              <a:ext cx="5059939" cy="1829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14"/>
                </a:lnSpc>
              </a:pPr>
              <a:r>
                <a:rPr lang="en-US" sz="4010" spc="-80">
                  <a:solidFill>
                    <a:srgbClr val="2E2E2E"/>
                  </a:solidFill>
                  <a:latin typeface="Roboto Bold"/>
                </a:rPr>
                <a:t>Работа над кейсом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980178"/>
              <a:ext cx="5059939" cy="1305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005"/>
                </a:lnSpc>
              </a:pPr>
              <a:r>
                <a:rPr lang="en-US" sz="2670" spc="-149">
                  <a:solidFill>
                    <a:srgbClr val="2E2E2E"/>
                  </a:solidFill>
                  <a:latin typeface="Roboto"/>
                </a:rPr>
                <a:t>Поиск проблематики проекта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821635" y="6310420"/>
            <a:ext cx="4950373" cy="4187890"/>
            <a:chOff x="0" y="0"/>
            <a:chExt cx="7506272" cy="6350116"/>
          </a:xfrm>
        </p:grpSpPr>
        <p:sp>
          <p:nvSpPr>
            <p:cNvPr name="Freeform 23" id="23"/>
            <p:cNvSpPr/>
            <p:nvPr/>
          </p:nvSpPr>
          <p:spPr>
            <a:xfrm>
              <a:off x="0" y="0"/>
              <a:ext cx="7506272" cy="6350116"/>
            </a:xfrm>
            <a:custGeom>
              <a:avLst/>
              <a:gdLst/>
              <a:ahLst/>
              <a:cxnLst/>
              <a:rect r="r" b="b" t="t" l="l"/>
              <a:pathLst>
                <a:path h="6350116" w="7506272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6045316"/>
                  </a:lnTo>
                  <a:cubicBezTo>
                    <a:pt x="0" y="6214226"/>
                    <a:pt x="135890" y="6350116"/>
                    <a:pt x="304800" y="6350116"/>
                  </a:cubicBezTo>
                  <a:lnTo>
                    <a:pt x="7201472" y="6350116"/>
                  </a:lnTo>
                  <a:cubicBezTo>
                    <a:pt x="7370382" y="6350116"/>
                    <a:pt x="7506272" y="6214226"/>
                    <a:pt x="7506272" y="6045316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493045" y="7141872"/>
            <a:ext cx="3361296" cy="2448365"/>
            <a:chOff x="0" y="0"/>
            <a:chExt cx="4481728" cy="3264487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85725"/>
              <a:ext cx="4481728" cy="182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000">
                  <a:solidFill>
                    <a:srgbClr val="FFFFFF"/>
                  </a:solidFill>
                  <a:latin typeface="Roboto Bold"/>
                </a:rPr>
                <a:t>Тайм-менджмент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990042"/>
              <a:ext cx="4481728" cy="1274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900"/>
                </a:lnSpc>
              </a:pPr>
              <a:r>
                <a:rPr lang="en-US" sz="2600" spc="52">
                  <a:solidFill>
                    <a:srgbClr val="FFFFFF"/>
                  </a:solidFill>
                  <a:latin typeface="Roboto"/>
                </a:rPr>
                <a:t>Был получен опыт работы с trello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61655" y="7446790"/>
            <a:ext cx="4950373" cy="3051519"/>
            <a:chOff x="0" y="0"/>
            <a:chExt cx="7506272" cy="4627032"/>
          </a:xfrm>
        </p:grpSpPr>
        <p:sp>
          <p:nvSpPr>
            <p:cNvPr name="Freeform 28" id="28"/>
            <p:cNvSpPr/>
            <p:nvPr/>
          </p:nvSpPr>
          <p:spPr>
            <a:xfrm>
              <a:off x="0" y="0"/>
              <a:ext cx="7506272" cy="4627032"/>
            </a:xfrm>
            <a:custGeom>
              <a:avLst/>
              <a:gdLst/>
              <a:ahLst/>
              <a:cxnLst/>
              <a:rect r="r" b="b" t="t" l="l"/>
              <a:pathLst>
                <a:path h="4627032" w="7506272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4322232"/>
                  </a:lnTo>
                  <a:cubicBezTo>
                    <a:pt x="0" y="4491142"/>
                    <a:pt x="135890" y="4627032"/>
                    <a:pt x="304800" y="4627032"/>
                  </a:cubicBezTo>
                  <a:lnTo>
                    <a:pt x="7201472" y="4627032"/>
                  </a:lnTo>
                  <a:cubicBezTo>
                    <a:pt x="7370382" y="4627032"/>
                    <a:pt x="7506272" y="4491142"/>
                    <a:pt x="7506272" y="4322232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FFC03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870767" y="7740303"/>
            <a:ext cx="4026299" cy="2464494"/>
            <a:chOff x="0" y="0"/>
            <a:chExt cx="5368398" cy="3285992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85725"/>
              <a:ext cx="5368398" cy="1829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14"/>
                </a:lnSpc>
              </a:pPr>
              <a:r>
                <a:rPr lang="en-US" sz="4010">
                  <a:solidFill>
                    <a:srgbClr val="2E2E2E"/>
                  </a:solidFill>
                  <a:latin typeface="Roboto Bold"/>
                </a:rPr>
                <a:t>Эффективное обучение 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980178"/>
              <a:ext cx="5368398" cy="1305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005"/>
                </a:lnSpc>
              </a:pPr>
              <a:r>
                <a:rPr lang="en-US" sz="2670">
                  <a:solidFill>
                    <a:srgbClr val="2E2E2E"/>
                  </a:solidFill>
                  <a:latin typeface="Roboto"/>
                </a:rPr>
                <a:t>Поиск необходимой информации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61655" y="2702902"/>
            <a:ext cx="4950373" cy="4187890"/>
            <a:chOff x="0" y="0"/>
            <a:chExt cx="7506272" cy="6350116"/>
          </a:xfrm>
        </p:grpSpPr>
        <p:sp>
          <p:nvSpPr>
            <p:cNvPr name="Freeform 33" id="33"/>
            <p:cNvSpPr/>
            <p:nvPr/>
          </p:nvSpPr>
          <p:spPr>
            <a:xfrm>
              <a:off x="0" y="0"/>
              <a:ext cx="7506272" cy="6350116"/>
            </a:xfrm>
            <a:custGeom>
              <a:avLst/>
              <a:gdLst/>
              <a:ahLst/>
              <a:cxnLst/>
              <a:rect r="r" b="b" t="t" l="l"/>
              <a:pathLst>
                <a:path h="6350116" w="7506272">
                  <a:moveTo>
                    <a:pt x="7201472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6045316"/>
                  </a:lnTo>
                  <a:cubicBezTo>
                    <a:pt x="0" y="6214226"/>
                    <a:pt x="135890" y="6350116"/>
                    <a:pt x="304800" y="6350116"/>
                  </a:cubicBezTo>
                  <a:lnTo>
                    <a:pt x="7201472" y="6350116"/>
                  </a:lnTo>
                  <a:cubicBezTo>
                    <a:pt x="7370382" y="6350116"/>
                    <a:pt x="7506272" y="6214226"/>
                    <a:pt x="7506272" y="6045316"/>
                  </a:cubicBezTo>
                  <a:lnTo>
                    <a:pt x="7506272" y="304800"/>
                  </a:lnTo>
                  <a:cubicBezTo>
                    <a:pt x="7506272" y="135890"/>
                    <a:pt x="7370382" y="0"/>
                    <a:pt x="7201472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410248" y="761811"/>
            <a:ext cx="2763445" cy="768862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 rot="0">
            <a:off x="8870767" y="3930902"/>
            <a:ext cx="3732150" cy="1731891"/>
            <a:chOff x="0" y="0"/>
            <a:chExt cx="4976200" cy="2309188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-85725"/>
              <a:ext cx="4976200" cy="894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17"/>
                </a:lnSpc>
              </a:pPr>
              <a:r>
                <a:rPr lang="en-US" sz="4012">
                  <a:solidFill>
                    <a:srgbClr val="FFFFFF"/>
                  </a:solidFill>
                  <a:latin typeface="Roboto Bold"/>
                </a:rPr>
                <a:t>Коммуникация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990937"/>
              <a:ext cx="4976200" cy="1318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012"/>
                </a:lnSpc>
              </a:pPr>
              <a:r>
                <a:rPr lang="en-US" sz="2674" spc="-149">
                  <a:solidFill>
                    <a:srgbClr val="FFFFFF"/>
                  </a:solidFill>
                  <a:latin typeface="Roboto"/>
                </a:rPr>
                <a:t>Получили опыт работы в команде</a:t>
              </a:r>
            </a:p>
          </p:txBody>
        </p:sp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173693" y="614752"/>
            <a:ext cx="1838668" cy="10629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60868"/>
            <a:ext cx="112078" cy="5810374"/>
            <a:chOff x="0" y="0"/>
            <a:chExt cx="149437" cy="7747165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149437" cy="2280560"/>
            </a:xfrm>
            <a:prstGeom prst="rect">
              <a:avLst/>
            </a:prstGeom>
            <a:solidFill>
              <a:srgbClr val="FFC033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60248" y="0"/>
              <a:ext cx="28940" cy="7747165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561123" y="2760547"/>
            <a:ext cx="13165753" cy="8174217"/>
            <a:chOff x="0" y="0"/>
            <a:chExt cx="12663261" cy="7862234"/>
          </a:xfrm>
        </p:grpSpPr>
        <p:sp>
          <p:nvSpPr>
            <p:cNvPr name="Freeform 6" id="6"/>
            <p:cNvSpPr/>
            <p:nvPr/>
          </p:nvSpPr>
          <p:spPr>
            <a:xfrm>
              <a:off x="0" y="0"/>
              <a:ext cx="12663260" cy="7862234"/>
            </a:xfrm>
            <a:custGeom>
              <a:avLst/>
              <a:gdLst/>
              <a:ahLst/>
              <a:cxnLst/>
              <a:rect r="r" b="b" t="t" l="l"/>
              <a:pathLst>
                <a:path h="7862234" w="12663260">
                  <a:moveTo>
                    <a:pt x="1235846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7557434"/>
                  </a:lnTo>
                  <a:cubicBezTo>
                    <a:pt x="0" y="7726344"/>
                    <a:pt x="135890" y="7862234"/>
                    <a:pt x="304800" y="7862234"/>
                  </a:cubicBezTo>
                  <a:lnTo>
                    <a:pt x="12358460" y="7862234"/>
                  </a:lnTo>
                  <a:cubicBezTo>
                    <a:pt x="12527370" y="7862234"/>
                    <a:pt x="12663260" y="7726344"/>
                    <a:pt x="12663260" y="7557434"/>
                  </a:cubicBezTo>
                  <a:lnTo>
                    <a:pt x="12663260" y="304800"/>
                  </a:lnTo>
                  <a:cubicBezTo>
                    <a:pt x="12663260" y="135890"/>
                    <a:pt x="12527370" y="0"/>
                    <a:pt x="1235846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212028" y="643852"/>
            <a:ext cx="2763445" cy="768862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152141" y="489797"/>
            <a:ext cx="1838668" cy="106298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917263" y="5471492"/>
            <a:ext cx="9425373" cy="104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320"/>
              </a:lnSpc>
            </a:pPr>
            <a:r>
              <a:rPr lang="en-US" sz="6400">
                <a:solidFill>
                  <a:srgbClr val="FFFFFF"/>
                </a:solidFill>
                <a:latin typeface="Roboto Bold"/>
              </a:rPr>
              <a:t>Спасибо за </a:t>
            </a:r>
            <a:r>
              <a:rPr lang="en-US" sz="6400">
                <a:solidFill>
                  <a:srgbClr val="FFC033"/>
                </a:solidFill>
                <a:latin typeface="Roboto Bold"/>
              </a:rPr>
              <a:t>внимание!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5340" y="4024710"/>
            <a:ext cx="955625" cy="44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FFFFFF">
                    <a:alpha val="29804"/>
                  </a:srgbClr>
                </a:solidFill>
                <a:latin typeface="Roboto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DAETlsIO-Bs</dc:identifier>
  <dcterms:modified xsi:type="dcterms:W3CDTF">2011-08-01T06:04:30Z</dcterms:modified>
  <cp:revision>1</cp:revision>
  <dc:title>Презентация на краш-тест</dc:title>
</cp:coreProperties>
</file>