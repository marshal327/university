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Roboto Bold" panose="020B0604020202020204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975131" y="496354"/>
            <a:ext cx="2763445" cy="768862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048982" y="3421682"/>
            <a:ext cx="10307871" cy="244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5829" dirty="0">
                <a:solidFill>
                  <a:srgbClr val="FFFFFF"/>
                </a:solidFill>
                <a:latin typeface="Roboto Bold"/>
              </a:rPr>
              <a:t>ПО ДЛЯ СОЗДАНИЯ ИНТЕРАКТИВНЫХ КАРТ ПОМЕЩЕНИЯ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2965" y="4024710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5435" y="6254802"/>
            <a:ext cx="7894966" cy="65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sz="3886">
                <a:solidFill>
                  <a:srgbClr val="FFC033"/>
                </a:solidFill>
                <a:latin typeface="Roboto Bold"/>
              </a:rPr>
              <a:t>Еда_и_Машина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738576" y="349295"/>
            <a:ext cx="1838668" cy="1062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662965" y="4024710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941224" y="1937321"/>
            <a:ext cx="16533795" cy="9228610"/>
            <a:chOff x="0" y="0"/>
            <a:chExt cx="15902755" cy="88763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02755" cy="8876385"/>
            </a:xfrm>
            <a:custGeom>
              <a:avLst/>
              <a:gdLst/>
              <a:ahLst/>
              <a:cxnLst/>
              <a:rect l="l" t="t" r="r" b="b"/>
              <a:pathLst>
                <a:path w="15902755" h="8876385">
                  <a:moveTo>
                    <a:pt x="1559795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71585"/>
                  </a:lnTo>
                  <a:cubicBezTo>
                    <a:pt x="0" y="8740494"/>
                    <a:pt x="135890" y="8876385"/>
                    <a:pt x="304800" y="8876385"/>
                  </a:cubicBezTo>
                  <a:lnTo>
                    <a:pt x="15597955" y="8876385"/>
                  </a:lnTo>
                  <a:cubicBezTo>
                    <a:pt x="15766864" y="8876385"/>
                    <a:pt x="15902755" y="8740494"/>
                    <a:pt x="15902755" y="8571585"/>
                  </a:cubicBezTo>
                  <a:lnTo>
                    <a:pt x="15902755" y="304800"/>
                  </a:lnTo>
                  <a:cubicBezTo>
                    <a:pt x="15902755" y="135890"/>
                    <a:pt x="15766864" y="0"/>
                    <a:pt x="15597955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214915" y="4513272"/>
            <a:ext cx="10300998" cy="2743563"/>
            <a:chOff x="0" y="0"/>
            <a:chExt cx="13734665" cy="3658085"/>
          </a:xfrm>
        </p:grpSpPr>
        <p:sp>
          <p:nvSpPr>
            <p:cNvPr id="9" name="TextBox 9"/>
            <p:cNvSpPr txBox="1"/>
            <p:nvPr/>
          </p:nvSpPr>
          <p:spPr>
            <a:xfrm>
              <a:off x="0" y="38100"/>
              <a:ext cx="13734665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600"/>
                </a:lnSpc>
              </a:pPr>
              <a:r>
                <a:rPr lang="en-US" sz="6000">
                  <a:solidFill>
                    <a:srgbClr val="FFFFFF"/>
                  </a:solidFill>
                  <a:latin typeface="Roboto Bold"/>
                </a:rPr>
                <a:t>Проблема </a:t>
              </a:r>
              <a:r>
                <a:rPr lang="en-US" sz="6000">
                  <a:solidFill>
                    <a:srgbClr val="FFC033"/>
                  </a:solidFill>
                  <a:latin typeface="Roboto Bold"/>
                </a:rPr>
                <a:t>пользователя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715129"/>
              <a:ext cx="11315646" cy="19429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r>
                <a:rPr lang="en-US" sz="2800" dirty="0">
                  <a:solidFill>
                    <a:srgbClr val="FFFFFF"/>
                  </a:solidFill>
                  <a:latin typeface="Roboto"/>
                </a:rPr>
                <a:t>В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компаниях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с Open space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часто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возникают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проблемы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с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поиском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рабочего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места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для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коллег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,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кофейных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аппаратов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, а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также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других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lang="en-US" sz="2206" dirty="0" err="1">
                  <a:solidFill>
                    <a:srgbClr val="FFFFFF"/>
                  </a:solidFill>
                  <a:latin typeface="Roboto"/>
                </a:rPr>
                <a:t>вещей</a:t>
              </a:r>
              <a:r>
                <a:rPr lang="en-US" sz="2206" dirty="0">
                  <a:solidFill>
                    <a:srgbClr val="FFFFFF"/>
                  </a:solidFill>
                  <a:latin typeface="Roboto"/>
                </a:rPr>
                <a:t>.</a:t>
              </a:r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63014" y="572148"/>
            <a:ext cx="2763445" cy="768862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826459" y="425089"/>
            <a:ext cx="1838668" cy="1062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0086826" y="-448567"/>
            <a:ext cx="8664293" cy="9211134"/>
            <a:chOff x="0" y="0"/>
            <a:chExt cx="7974869" cy="84781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74869" cy="8478197"/>
            </a:xfrm>
            <a:custGeom>
              <a:avLst/>
              <a:gdLst/>
              <a:ahLst/>
              <a:cxnLst/>
              <a:rect l="l" t="t" r="r" b="b"/>
              <a:pathLst>
                <a:path w="7974869" h="8478197">
                  <a:moveTo>
                    <a:pt x="767006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173397"/>
                  </a:lnTo>
                  <a:cubicBezTo>
                    <a:pt x="0" y="8342307"/>
                    <a:pt x="135890" y="8478197"/>
                    <a:pt x="304800" y="8478197"/>
                  </a:cubicBezTo>
                  <a:lnTo>
                    <a:pt x="7670069" y="8478197"/>
                  </a:lnTo>
                  <a:cubicBezTo>
                    <a:pt x="7838979" y="8478197"/>
                    <a:pt x="7974869" y="8342307"/>
                    <a:pt x="7974869" y="8173397"/>
                  </a:cubicBezTo>
                  <a:lnTo>
                    <a:pt x="7974869" y="304800"/>
                  </a:lnTo>
                  <a:cubicBezTo>
                    <a:pt x="7974869" y="135890"/>
                    <a:pt x="7838979" y="0"/>
                    <a:pt x="7670069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8489138" y="1501985"/>
            <a:ext cx="3195375" cy="6321050"/>
            <a:chOff x="0" y="0"/>
            <a:chExt cx="2620010" cy="5182870"/>
          </a:xfrm>
        </p:grpSpPr>
        <p:sp>
          <p:nvSpPr>
            <p:cNvPr id="8" name="Freeform 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6429" t="3013" r="6380" b="291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2E2E2E"/>
            </a:solidFill>
          </p:spPr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816247" y="515030"/>
            <a:ext cx="2763445" cy="76886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579692" y="294144"/>
            <a:ext cx="1776551" cy="1210634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176364" y="3565004"/>
            <a:ext cx="5591893" cy="304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Мы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предлагаем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решение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 –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программу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, с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помощью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которой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можно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создавать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интерактивные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карты</a:t>
            </a:r>
            <a:r>
              <a:rPr lang="en-US" sz="3200" spc="96" dirty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3200" spc="96" dirty="0" err="1">
                <a:solidFill>
                  <a:srgbClr val="FFFFFF"/>
                </a:solidFill>
                <a:latin typeface="Roboto"/>
              </a:rPr>
              <a:t>помещений</a:t>
            </a:r>
            <a:endParaRPr lang="en-US" sz="3200" spc="96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005598" y="3421694"/>
            <a:ext cx="6133582" cy="2164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70"/>
              </a:lnSpc>
            </a:pPr>
            <a:r>
              <a:rPr lang="en-US" sz="7700" dirty="0" err="1">
                <a:solidFill>
                  <a:srgbClr val="FFFFFF"/>
                </a:solidFill>
                <a:latin typeface="Roboto Bold"/>
              </a:rPr>
              <a:t>Что</a:t>
            </a:r>
            <a:r>
              <a:rPr lang="en-US" sz="7700" dirty="0">
                <a:solidFill>
                  <a:srgbClr val="FFFFFF"/>
                </a:solidFill>
                <a:latin typeface="Roboto Bold"/>
              </a:rPr>
              <a:t> </a:t>
            </a:r>
            <a:r>
              <a:rPr lang="en-US" sz="7700" dirty="0" err="1">
                <a:solidFill>
                  <a:srgbClr val="FFFFFF"/>
                </a:solidFill>
                <a:latin typeface="Roboto Bold"/>
              </a:rPr>
              <a:t>мы</a:t>
            </a:r>
            <a:r>
              <a:rPr lang="en-US" sz="7700" dirty="0">
                <a:solidFill>
                  <a:srgbClr val="FFFFFF"/>
                </a:solidFill>
                <a:latin typeface="Roboto Bold"/>
              </a:rPr>
              <a:t> </a:t>
            </a:r>
            <a:r>
              <a:rPr lang="en-US" sz="7700" dirty="0" err="1">
                <a:solidFill>
                  <a:srgbClr val="FFC033"/>
                </a:solidFill>
                <a:latin typeface="Roboto Bold"/>
              </a:rPr>
              <a:t>предлагаем</a:t>
            </a:r>
            <a:r>
              <a:rPr lang="en-US" sz="7700" dirty="0">
                <a:solidFill>
                  <a:srgbClr val="FFC033"/>
                </a:solidFill>
                <a:latin typeface="Roboto Bold"/>
              </a:rPr>
              <a:t>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2965" y="4024710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941224" y="5588380"/>
            <a:ext cx="16533795" cy="5577551"/>
            <a:chOff x="0" y="0"/>
            <a:chExt cx="15902755" cy="53646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902755" cy="5364674"/>
            </a:xfrm>
            <a:custGeom>
              <a:avLst/>
              <a:gdLst/>
              <a:ahLst/>
              <a:cxnLst/>
              <a:rect l="l" t="t" r="r" b="b"/>
              <a:pathLst>
                <a:path w="15902755" h="5364674">
                  <a:moveTo>
                    <a:pt x="1559795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5059874"/>
                  </a:lnTo>
                  <a:cubicBezTo>
                    <a:pt x="0" y="5228784"/>
                    <a:pt x="135890" y="5364674"/>
                    <a:pt x="304800" y="5364674"/>
                  </a:cubicBezTo>
                  <a:lnTo>
                    <a:pt x="15597955" y="5364674"/>
                  </a:lnTo>
                  <a:cubicBezTo>
                    <a:pt x="15766864" y="5364674"/>
                    <a:pt x="15902755" y="5228784"/>
                    <a:pt x="15902755" y="5059874"/>
                  </a:cubicBezTo>
                  <a:lnTo>
                    <a:pt x="15902755" y="304800"/>
                  </a:lnTo>
                  <a:cubicBezTo>
                    <a:pt x="15902755" y="135890"/>
                    <a:pt x="15766864" y="0"/>
                    <a:pt x="15597955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675365" y="2104432"/>
            <a:ext cx="10113318" cy="7529005"/>
            <a:chOff x="0" y="0"/>
            <a:chExt cx="13484424" cy="10038673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/>
            <a:srcRect l="3106" r="3106"/>
            <a:stretch>
              <a:fillRect/>
            </a:stretch>
          </p:blipFill>
          <p:spPr>
            <a:xfrm>
              <a:off x="0" y="0"/>
              <a:ext cx="4410141" cy="10038673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3847" r="3847"/>
            <a:stretch>
              <a:fillRect/>
            </a:stretch>
          </p:blipFill>
          <p:spPr>
            <a:xfrm>
              <a:off x="4537141" y="0"/>
              <a:ext cx="4410141" cy="10038673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rcRect l="3322" r="3322"/>
            <a:stretch>
              <a:fillRect/>
            </a:stretch>
          </p:blipFill>
          <p:spPr>
            <a:xfrm>
              <a:off x="9074283" y="0"/>
              <a:ext cx="4410141" cy="10038673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9195425" y="3260164"/>
            <a:ext cx="1915644" cy="1055200"/>
            <a:chOff x="0" y="0"/>
            <a:chExt cx="2554192" cy="1406934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/>
            <a:srcRect l="3220" r="3220"/>
            <a:stretch>
              <a:fillRect/>
            </a:stretch>
          </p:blipFill>
          <p:spPr>
            <a:xfrm>
              <a:off x="0" y="0"/>
              <a:ext cx="2554192" cy="1406934"/>
            </a:xfrm>
            <a:prstGeom prst="rect">
              <a:avLst/>
            </a:prstGeom>
          </p:spPr>
        </p:pic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025239" y="674684"/>
            <a:ext cx="2763445" cy="768862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5788684" y="543916"/>
            <a:ext cx="1838668" cy="106298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9195425" y="6827709"/>
            <a:ext cx="1915644" cy="1138328"/>
            <a:chOff x="0" y="0"/>
            <a:chExt cx="2554192" cy="1517770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8"/>
            <a:srcRect t="2640" b="2640"/>
            <a:stretch>
              <a:fillRect/>
            </a:stretch>
          </p:blipFill>
          <p:spPr>
            <a:xfrm>
              <a:off x="0" y="0"/>
              <a:ext cx="2554192" cy="151777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9195425" y="5003629"/>
            <a:ext cx="1915644" cy="1164305"/>
            <a:chOff x="0" y="0"/>
            <a:chExt cx="2554192" cy="1552407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9"/>
            <a:srcRect l="640" r="640"/>
            <a:stretch>
              <a:fillRect/>
            </a:stretch>
          </p:blipFill>
          <p:spPr>
            <a:xfrm>
              <a:off x="0" y="0"/>
              <a:ext cx="2554192" cy="1552407"/>
            </a:xfrm>
            <a:prstGeom prst="rect">
              <a:avLst/>
            </a:prstGeom>
          </p:spPr>
        </p:pic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2589122" y="2246859"/>
            <a:ext cx="471447" cy="471445"/>
            <a:chOff x="0" y="0"/>
            <a:chExt cx="6350000" cy="63499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662965" y="4024710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0942" y="467716"/>
            <a:ext cx="9594913" cy="104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19"/>
              </a:lnSpc>
            </a:pPr>
            <a:r>
              <a:rPr lang="en-US" sz="6399">
                <a:solidFill>
                  <a:srgbClr val="FFFFFF"/>
                </a:solidFill>
                <a:latin typeface="Roboto Bold"/>
              </a:rPr>
              <a:t>Интерфейс </a:t>
            </a:r>
            <a:r>
              <a:rPr lang="en-US" sz="6399">
                <a:solidFill>
                  <a:srgbClr val="FFC033"/>
                </a:solidFill>
                <a:latin typeface="Roboto Bold"/>
              </a:rPr>
              <a:t>приложения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1224" y="1937321"/>
            <a:ext cx="16533795" cy="9228610"/>
            <a:chOff x="0" y="0"/>
            <a:chExt cx="15902755" cy="88763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902755" cy="8876385"/>
            </a:xfrm>
            <a:custGeom>
              <a:avLst/>
              <a:gdLst/>
              <a:ahLst/>
              <a:cxnLst/>
              <a:rect l="l" t="t" r="r" b="b"/>
              <a:pathLst>
                <a:path w="15902755" h="8876385">
                  <a:moveTo>
                    <a:pt x="1559795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71585"/>
                  </a:lnTo>
                  <a:cubicBezTo>
                    <a:pt x="0" y="8740494"/>
                    <a:pt x="135890" y="8876385"/>
                    <a:pt x="304800" y="8876385"/>
                  </a:cubicBezTo>
                  <a:lnTo>
                    <a:pt x="15597955" y="8876385"/>
                  </a:lnTo>
                  <a:cubicBezTo>
                    <a:pt x="15766864" y="8876385"/>
                    <a:pt x="15902755" y="8740494"/>
                    <a:pt x="15902755" y="8571585"/>
                  </a:cubicBezTo>
                  <a:lnTo>
                    <a:pt x="15902755" y="304800"/>
                  </a:lnTo>
                  <a:cubicBezTo>
                    <a:pt x="15902755" y="135890"/>
                    <a:pt x="15766864" y="0"/>
                    <a:pt x="15597955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191360" y="2503544"/>
            <a:ext cx="12414028" cy="7188667"/>
            <a:chOff x="0" y="0"/>
            <a:chExt cx="16552038" cy="958488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t="92" b="92"/>
            <a:stretch>
              <a:fillRect/>
            </a:stretch>
          </p:blipFill>
          <p:spPr>
            <a:xfrm>
              <a:off x="0" y="0"/>
              <a:ext cx="5432679" cy="958488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t="599" b="599"/>
            <a:stretch>
              <a:fillRect/>
            </a:stretch>
          </p:blipFill>
          <p:spPr>
            <a:xfrm>
              <a:off x="5559679" y="0"/>
              <a:ext cx="5432679" cy="958488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rcRect t="489" b="489"/>
            <a:stretch>
              <a:fillRect/>
            </a:stretch>
          </p:blipFill>
          <p:spPr>
            <a:xfrm>
              <a:off x="11119358" y="0"/>
              <a:ext cx="5432679" cy="9584889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9" name="AutoShape 9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10" name="AutoShape 10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063014" y="572148"/>
            <a:ext cx="2763445" cy="768862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5840283" y="425089"/>
            <a:ext cx="1838668" cy="106298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62965" y="4024710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3276" y="454924"/>
            <a:ext cx="10701995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10"/>
              </a:lnSpc>
            </a:pPr>
            <a:r>
              <a:rPr lang="en-US" sz="7100" dirty="0" err="1">
                <a:solidFill>
                  <a:srgbClr val="FFFFFF"/>
                </a:solidFill>
                <a:latin typeface="Roboto Bold"/>
              </a:rPr>
              <a:t>Демонстрация</a:t>
            </a:r>
            <a:r>
              <a:rPr lang="en-US" sz="7100" dirty="0">
                <a:solidFill>
                  <a:srgbClr val="FFFFFF"/>
                </a:solidFill>
                <a:latin typeface="Roboto Bold"/>
              </a:rPr>
              <a:t> </a:t>
            </a:r>
            <a:r>
              <a:rPr lang="en-US" sz="7100" dirty="0" err="1">
                <a:solidFill>
                  <a:srgbClr val="FFC033"/>
                </a:solidFill>
                <a:latin typeface="Roboto Bold"/>
              </a:rPr>
              <a:t>решения</a:t>
            </a:r>
            <a:endParaRPr lang="en-US" sz="7100" dirty="0">
              <a:solidFill>
                <a:srgbClr val="FFC033"/>
              </a:solidFill>
              <a:latin typeface="Roboto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217324" y="-296711"/>
            <a:ext cx="16286730" cy="7442828"/>
            <a:chOff x="0" y="0"/>
            <a:chExt cx="15665120" cy="71587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65120" cy="7158760"/>
            </a:xfrm>
            <a:custGeom>
              <a:avLst/>
              <a:gdLst/>
              <a:ahLst/>
              <a:cxnLst/>
              <a:rect l="l" t="t" r="r" b="b"/>
              <a:pathLst>
                <a:path w="15665120" h="7158760">
                  <a:moveTo>
                    <a:pt x="1536032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6853960"/>
                  </a:lnTo>
                  <a:cubicBezTo>
                    <a:pt x="0" y="7022871"/>
                    <a:pt x="135890" y="7158760"/>
                    <a:pt x="304800" y="7158760"/>
                  </a:cubicBezTo>
                  <a:lnTo>
                    <a:pt x="15360320" y="7158760"/>
                  </a:lnTo>
                  <a:cubicBezTo>
                    <a:pt x="15529230" y="7158760"/>
                    <a:pt x="15665120" y="7022871"/>
                    <a:pt x="15665120" y="6853960"/>
                  </a:cubicBezTo>
                  <a:lnTo>
                    <a:pt x="15665120" y="304800"/>
                  </a:lnTo>
                  <a:cubicBezTo>
                    <a:pt x="15665120" y="135890"/>
                    <a:pt x="15529230" y="0"/>
                    <a:pt x="1536032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398004" y="2004239"/>
            <a:ext cx="8788531" cy="8788531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t="-24990" b="-25010"/>
              </a:stretch>
            </a:blip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063014" y="474186"/>
            <a:ext cx="2763445" cy="768862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16451" y="4192084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82267" y="3618164"/>
            <a:ext cx="6876212" cy="113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Roboto Bold"/>
              </a:rPr>
              <a:t>Перспективы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82267" y="8371984"/>
            <a:ext cx="65448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spc="90">
                <a:solidFill>
                  <a:srgbClr val="FFFFFF"/>
                </a:solidFill>
                <a:latin typeface="Roboto"/>
              </a:rPr>
              <a:t>Новый кейс - новые возможности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826459" y="253300"/>
            <a:ext cx="1776551" cy="1210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662965" y="4024710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41224" y="979250"/>
            <a:ext cx="10831865" cy="104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20"/>
              </a:lnSpc>
            </a:pPr>
            <a:r>
              <a:rPr lang="en-US" sz="6400" dirty="0" err="1">
                <a:solidFill>
                  <a:srgbClr val="FFFFFF"/>
                </a:solidFill>
                <a:latin typeface="Roboto Bold"/>
              </a:rPr>
              <a:t>Затраты</a:t>
            </a:r>
            <a:r>
              <a:rPr lang="en-US" sz="6400" dirty="0">
                <a:solidFill>
                  <a:srgbClr val="FFFFFF"/>
                </a:solidFill>
                <a:latin typeface="Roboto Bold"/>
              </a:rPr>
              <a:t> </a:t>
            </a:r>
            <a:r>
              <a:rPr lang="en-US" sz="2206" dirty="0" err="1">
                <a:solidFill>
                  <a:srgbClr val="FFFFFF"/>
                </a:solidFill>
                <a:latin typeface="Roboto Bold"/>
              </a:rPr>
              <a:t>на</a:t>
            </a:r>
            <a:r>
              <a:rPr lang="en-US" sz="2206" dirty="0">
                <a:solidFill>
                  <a:srgbClr val="FFFFFF"/>
                </a:solidFill>
                <a:latin typeface="Roboto Bold"/>
              </a:rPr>
              <a:t> </a:t>
            </a:r>
            <a:r>
              <a:rPr lang="en-US" sz="2206" dirty="0" err="1">
                <a:solidFill>
                  <a:srgbClr val="FFFFFF"/>
                </a:solidFill>
                <a:latin typeface="Roboto Bold"/>
              </a:rPr>
              <a:t>проект</a:t>
            </a:r>
            <a:endParaRPr lang="en-US" sz="2206" dirty="0">
              <a:solidFill>
                <a:srgbClr val="FFFFFF"/>
              </a:solidFill>
              <a:latin typeface="Roboto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941224" y="3092646"/>
            <a:ext cx="7791899" cy="2948666"/>
            <a:chOff x="0" y="0"/>
            <a:chExt cx="7494508" cy="28361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94508" cy="2836125"/>
            </a:xfrm>
            <a:custGeom>
              <a:avLst/>
              <a:gdLst/>
              <a:ahLst/>
              <a:cxnLst/>
              <a:rect l="l" t="t" r="r" b="b"/>
              <a:pathLst>
                <a:path w="7494508" h="2836125">
                  <a:moveTo>
                    <a:pt x="718970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531325"/>
                  </a:lnTo>
                  <a:cubicBezTo>
                    <a:pt x="0" y="2700235"/>
                    <a:pt x="135890" y="2836125"/>
                    <a:pt x="304800" y="2836125"/>
                  </a:cubicBezTo>
                  <a:lnTo>
                    <a:pt x="7189708" y="2836125"/>
                  </a:lnTo>
                  <a:cubicBezTo>
                    <a:pt x="7358618" y="2836125"/>
                    <a:pt x="7494508" y="2700235"/>
                    <a:pt x="7494508" y="2531325"/>
                  </a:cubicBezTo>
                  <a:lnTo>
                    <a:pt x="7494508" y="304800"/>
                  </a:lnTo>
                  <a:cubicBezTo>
                    <a:pt x="7494508" y="135890"/>
                    <a:pt x="7358618" y="0"/>
                    <a:pt x="7189708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941224" y="6698393"/>
            <a:ext cx="7791899" cy="2948666"/>
            <a:chOff x="0" y="0"/>
            <a:chExt cx="7494508" cy="28361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94508" cy="2836125"/>
            </a:xfrm>
            <a:custGeom>
              <a:avLst/>
              <a:gdLst/>
              <a:ahLst/>
              <a:cxnLst/>
              <a:rect l="l" t="t" r="r" b="b"/>
              <a:pathLst>
                <a:path w="7494508" h="2836125">
                  <a:moveTo>
                    <a:pt x="718970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531325"/>
                  </a:lnTo>
                  <a:cubicBezTo>
                    <a:pt x="0" y="2700235"/>
                    <a:pt x="135890" y="2836125"/>
                    <a:pt x="304800" y="2836125"/>
                  </a:cubicBezTo>
                  <a:lnTo>
                    <a:pt x="7189708" y="2836125"/>
                  </a:lnTo>
                  <a:cubicBezTo>
                    <a:pt x="7358618" y="2836125"/>
                    <a:pt x="7494508" y="2700235"/>
                    <a:pt x="7494508" y="2531325"/>
                  </a:cubicBezTo>
                  <a:lnTo>
                    <a:pt x="7494508" y="304800"/>
                  </a:lnTo>
                  <a:cubicBezTo>
                    <a:pt x="7494508" y="135890"/>
                    <a:pt x="7358618" y="0"/>
                    <a:pt x="7189708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326670" y="3092646"/>
            <a:ext cx="7791899" cy="2948666"/>
            <a:chOff x="0" y="0"/>
            <a:chExt cx="7494508" cy="28361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94508" cy="2836125"/>
            </a:xfrm>
            <a:custGeom>
              <a:avLst/>
              <a:gdLst/>
              <a:ahLst/>
              <a:cxnLst/>
              <a:rect l="l" t="t" r="r" b="b"/>
              <a:pathLst>
                <a:path w="7494508" h="2836125">
                  <a:moveTo>
                    <a:pt x="718970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531325"/>
                  </a:lnTo>
                  <a:cubicBezTo>
                    <a:pt x="0" y="2700235"/>
                    <a:pt x="135890" y="2836125"/>
                    <a:pt x="304800" y="2836125"/>
                  </a:cubicBezTo>
                  <a:lnTo>
                    <a:pt x="7189708" y="2836125"/>
                  </a:lnTo>
                  <a:cubicBezTo>
                    <a:pt x="7358618" y="2836125"/>
                    <a:pt x="7494508" y="2700235"/>
                    <a:pt x="7494508" y="2531325"/>
                  </a:cubicBezTo>
                  <a:lnTo>
                    <a:pt x="7494508" y="304800"/>
                  </a:lnTo>
                  <a:cubicBezTo>
                    <a:pt x="7494508" y="135890"/>
                    <a:pt x="7358618" y="0"/>
                    <a:pt x="7189708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1326670" y="6698393"/>
            <a:ext cx="7791899" cy="2948666"/>
            <a:chOff x="0" y="0"/>
            <a:chExt cx="7494508" cy="28361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494508" cy="2836125"/>
            </a:xfrm>
            <a:custGeom>
              <a:avLst/>
              <a:gdLst/>
              <a:ahLst/>
              <a:cxnLst/>
              <a:rect l="l" t="t" r="r" b="b"/>
              <a:pathLst>
                <a:path w="7494508" h="2836125">
                  <a:moveTo>
                    <a:pt x="718970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531325"/>
                  </a:lnTo>
                  <a:cubicBezTo>
                    <a:pt x="0" y="2700235"/>
                    <a:pt x="135890" y="2836125"/>
                    <a:pt x="304800" y="2836125"/>
                  </a:cubicBezTo>
                  <a:lnTo>
                    <a:pt x="7189708" y="2836125"/>
                  </a:lnTo>
                  <a:cubicBezTo>
                    <a:pt x="7358618" y="2836125"/>
                    <a:pt x="7494508" y="2700235"/>
                    <a:pt x="7494508" y="2531325"/>
                  </a:cubicBezTo>
                  <a:lnTo>
                    <a:pt x="7494508" y="304800"/>
                  </a:lnTo>
                  <a:cubicBezTo>
                    <a:pt x="7494508" y="135890"/>
                    <a:pt x="7358618" y="0"/>
                    <a:pt x="7189708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3684562" y="3721891"/>
            <a:ext cx="5528325" cy="1690175"/>
            <a:chOff x="0" y="0"/>
            <a:chExt cx="7371101" cy="22535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85725"/>
              <a:ext cx="7371101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 dirty="0" err="1">
                  <a:solidFill>
                    <a:srgbClr val="2E2E2E"/>
                  </a:solidFill>
                  <a:latin typeface="Roboto Bold"/>
                </a:rPr>
                <a:t>Шведенко</a:t>
              </a:r>
              <a:r>
                <a:rPr lang="en-US" sz="4000" dirty="0">
                  <a:solidFill>
                    <a:srgbClr val="2E2E2E"/>
                  </a:solidFill>
                  <a:latin typeface="Roboto Bold"/>
                </a:rPr>
                <a:t> </a:t>
              </a:r>
              <a:r>
                <a:rPr lang="en-US" sz="4000" dirty="0" err="1">
                  <a:solidFill>
                    <a:srgbClr val="2E2E2E"/>
                  </a:solidFill>
                  <a:latin typeface="Roboto Bold"/>
                </a:rPr>
                <a:t>Александр</a:t>
              </a:r>
              <a:endParaRPr lang="en-US" sz="4000" dirty="0">
                <a:solidFill>
                  <a:srgbClr val="2E2E2E"/>
                </a:solidFill>
                <a:latin typeface="Roboto 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59767"/>
              <a:ext cx="7371101" cy="1193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50"/>
                </a:lnSpc>
              </a:pPr>
              <a:r>
                <a:rPr lang="en-US" sz="2499" spc="49">
                  <a:solidFill>
                    <a:srgbClr val="2E2E2E"/>
                  </a:solidFill>
                  <a:latin typeface="Roboto"/>
                </a:rPr>
                <a:t>30 часов на работу</a:t>
              </a:r>
            </a:p>
            <a:p>
              <a:pPr>
                <a:lnSpc>
                  <a:spcPts val="3749"/>
                </a:lnSpc>
              </a:pPr>
              <a:r>
                <a:rPr lang="en-US" sz="2500" spc="50">
                  <a:solidFill>
                    <a:srgbClr val="2E2E2E"/>
                  </a:solidFill>
                  <a:latin typeface="Roboto"/>
                </a:rPr>
                <a:t>6 часов на обучение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54856" y="7422595"/>
            <a:ext cx="5528325" cy="1690175"/>
            <a:chOff x="0" y="0"/>
            <a:chExt cx="7371101" cy="2253567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85725"/>
              <a:ext cx="7371101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2E2E2E"/>
                  </a:solidFill>
                  <a:latin typeface="Roboto Bold"/>
                </a:rPr>
                <a:t>Волосовец Даниил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059767"/>
              <a:ext cx="7371101" cy="1193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50"/>
                </a:lnSpc>
              </a:pPr>
              <a:r>
                <a:rPr lang="en-US" sz="2499" spc="49">
                  <a:solidFill>
                    <a:srgbClr val="2E2E2E"/>
                  </a:solidFill>
                  <a:latin typeface="Roboto"/>
                </a:rPr>
                <a:t>4 часа на работу</a:t>
              </a:r>
            </a:p>
            <a:p>
              <a:pPr>
                <a:lnSpc>
                  <a:spcPts val="3749"/>
                </a:lnSpc>
              </a:pPr>
              <a:r>
                <a:rPr lang="en-US" sz="2500" spc="50">
                  <a:solidFill>
                    <a:srgbClr val="2E2E2E"/>
                  </a:solidFill>
                  <a:latin typeface="Roboto"/>
                </a:rPr>
                <a:t>1 час на обучение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054856" y="3721891"/>
            <a:ext cx="5528325" cy="1690175"/>
            <a:chOff x="0" y="0"/>
            <a:chExt cx="7371101" cy="2253567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85725"/>
              <a:ext cx="7371101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FFFF"/>
                  </a:solidFill>
                  <a:latin typeface="Roboto Bold"/>
                </a:rPr>
                <a:t>Джинория Денис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059767"/>
              <a:ext cx="7371101" cy="1193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50"/>
                </a:lnSpc>
              </a:pPr>
              <a:r>
                <a:rPr lang="en-US" sz="2499" spc="49">
                  <a:solidFill>
                    <a:srgbClr val="FFFFFF"/>
                  </a:solidFill>
                  <a:latin typeface="Roboto"/>
                </a:rPr>
                <a:t>18 часов на работу</a:t>
              </a:r>
            </a:p>
            <a:p>
              <a:pPr>
                <a:lnSpc>
                  <a:spcPts val="3749"/>
                </a:lnSpc>
              </a:pPr>
              <a:r>
                <a:rPr lang="en-US" sz="2500" spc="50">
                  <a:solidFill>
                    <a:srgbClr val="FFFFFF"/>
                  </a:solidFill>
                  <a:latin typeface="Roboto"/>
                </a:rPr>
                <a:t>10 часов на обучение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84562" y="7327638"/>
            <a:ext cx="5528325" cy="1690175"/>
            <a:chOff x="0" y="0"/>
            <a:chExt cx="7371101" cy="2253567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85725"/>
              <a:ext cx="7371101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 dirty="0" err="1">
                  <a:solidFill>
                    <a:srgbClr val="FFFFFF"/>
                  </a:solidFill>
                  <a:latin typeface="Roboto Bold"/>
                </a:rPr>
                <a:t>Бородин</a:t>
              </a:r>
              <a:r>
                <a:rPr lang="en-US" sz="4000" dirty="0">
                  <a:solidFill>
                    <a:srgbClr val="FFFFFF"/>
                  </a:solidFill>
                  <a:latin typeface="Roboto Bold"/>
                </a:rPr>
                <a:t> </a:t>
              </a:r>
              <a:r>
                <a:rPr lang="ru-RU" sz="4000" dirty="0">
                  <a:solidFill>
                    <a:srgbClr val="FFFFFF"/>
                  </a:solidFill>
                  <a:latin typeface="Roboto Bold"/>
                </a:rPr>
                <a:t>Р</a:t>
              </a:r>
              <a:r>
                <a:rPr lang="en-US" sz="4000" dirty="0" err="1" smtClean="0">
                  <a:solidFill>
                    <a:srgbClr val="FFFFFF"/>
                  </a:solidFill>
                  <a:latin typeface="Roboto Bold"/>
                </a:rPr>
                <a:t>одион</a:t>
              </a:r>
              <a:endParaRPr lang="en-US" sz="4000" dirty="0">
                <a:solidFill>
                  <a:srgbClr val="FFFFFF"/>
                </a:solidFill>
                <a:latin typeface="Roboto Bold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059767"/>
              <a:ext cx="7371101" cy="1193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50"/>
                </a:lnSpc>
              </a:pPr>
              <a:r>
                <a:rPr lang="en-US" sz="2499" spc="49">
                  <a:solidFill>
                    <a:srgbClr val="FFFFFF"/>
                  </a:solidFill>
                  <a:latin typeface="Roboto"/>
                </a:rPr>
                <a:t>12 часов на работу</a:t>
              </a:r>
            </a:p>
            <a:p>
              <a:pPr>
                <a:lnSpc>
                  <a:spcPts val="3749"/>
                </a:lnSpc>
              </a:pPr>
              <a:r>
                <a:rPr lang="en-US" sz="2500" spc="50">
                  <a:solidFill>
                    <a:srgbClr val="FFFFFF"/>
                  </a:solidFill>
                  <a:latin typeface="Roboto"/>
                </a:rPr>
                <a:t>6 часов на обучение</a:t>
              </a:r>
            </a:p>
          </p:txBody>
        </p:sp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851110" y="738354"/>
            <a:ext cx="2763445" cy="76886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744514" y="591295"/>
            <a:ext cx="1838668" cy="1062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8695433" y="2284689"/>
            <a:ext cx="9876259" cy="9685665"/>
            <a:chOff x="0" y="0"/>
            <a:chExt cx="9499315" cy="93159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99316" cy="9315996"/>
            </a:xfrm>
            <a:custGeom>
              <a:avLst/>
              <a:gdLst/>
              <a:ahLst/>
              <a:cxnLst/>
              <a:rect l="l" t="t" r="r" b="b"/>
              <a:pathLst>
                <a:path w="9499316" h="9315996">
                  <a:moveTo>
                    <a:pt x="919451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9011196"/>
                  </a:lnTo>
                  <a:cubicBezTo>
                    <a:pt x="0" y="9180106"/>
                    <a:pt x="135890" y="9315996"/>
                    <a:pt x="304800" y="9315996"/>
                  </a:cubicBezTo>
                  <a:lnTo>
                    <a:pt x="9194516" y="9315996"/>
                  </a:lnTo>
                  <a:cubicBezTo>
                    <a:pt x="9363425" y="9315996"/>
                    <a:pt x="9499316" y="9180106"/>
                    <a:pt x="9499316" y="9011196"/>
                  </a:cubicBezTo>
                  <a:lnTo>
                    <a:pt x="9499316" y="304800"/>
                  </a:lnTo>
                  <a:cubicBezTo>
                    <a:pt x="9499316" y="135890"/>
                    <a:pt x="9363425" y="0"/>
                    <a:pt x="9194516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298634" y="2858883"/>
            <a:ext cx="5772750" cy="3147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19"/>
              </a:lnSpc>
            </a:pPr>
            <a:r>
              <a:rPr lang="en-US" sz="6399">
                <a:solidFill>
                  <a:srgbClr val="FFFFFF"/>
                </a:solidFill>
                <a:latin typeface="Roboto Bold"/>
              </a:rPr>
              <a:t>Как </a:t>
            </a:r>
            <a:r>
              <a:rPr lang="en-US" sz="2206">
                <a:solidFill>
                  <a:srgbClr val="FFFFFF"/>
                </a:solidFill>
                <a:latin typeface="Roboto Bold"/>
              </a:rPr>
              <a:t>была устроена</a:t>
            </a:r>
            <a:r>
              <a:rPr lang="en-US" sz="6399">
                <a:solidFill>
                  <a:srgbClr val="FFFFFF"/>
                </a:solidFill>
                <a:latin typeface="Roboto Bold"/>
              </a:rPr>
              <a:t> </a:t>
            </a:r>
            <a:r>
              <a:rPr lang="en-US" sz="6399">
                <a:solidFill>
                  <a:srgbClr val="FFC033"/>
                </a:solidFill>
                <a:latin typeface="Roboto Bold"/>
              </a:rPr>
              <a:t>работа?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96395" y="3011830"/>
            <a:ext cx="7134311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>
                <a:solidFill>
                  <a:srgbClr val="FFC033"/>
                </a:solidFill>
                <a:latin typeface="Roboto Bold"/>
              </a:rPr>
              <a:t>Шведенко Александр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96395" y="3767284"/>
            <a:ext cx="7134311" cy="37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9"/>
              </a:lnSpc>
              <a:spcBef>
                <a:spcPct val="0"/>
              </a:spcBef>
            </a:pPr>
            <a:r>
              <a:rPr lang="en-US" sz="2099" spc="62">
                <a:solidFill>
                  <a:srgbClr val="FFFFFF"/>
                </a:solidFill>
                <a:latin typeface="Roboto"/>
              </a:rPr>
              <a:t>Лидер, разработчик, составитель документации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98634" y="7099426"/>
            <a:ext cx="6025269" cy="245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Roboto"/>
              </a:rPr>
              <a:t>В к</a:t>
            </a:r>
            <a:r>
              <a:rPr lang="en-US" sz="2206">
                <a:solidFill>
                  <a:srgbClr val="FFFFFF"/>
                </a:solidFill>
                <a:latin typeface="Roboto"/>
              </a:rPr>
              <a:t>ачестве</a:t>
            </a:r>
            <a:r>
              <a:rPr lang="en-US" sz="2800">
                <a:solidFill>
                  <a:srgbClr val="FFFFFF"/>
                </a:solidFill>
                <a:latin typeface="Roboto"/>
              </a:rPr>
              <a:t> инструмента для разработки программы использовался игровой движок Unity. Для разработки интерфейса использовалась программа figma.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965" y="4024710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08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896395" y="4940015"/>
            <a:ext cx="7134311" cy="1041704"/>
            <a:chOff x="0" y="0"/>
            <a:chExt cx="9512415" cy="138893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85725"/>
              <a:ext cx="9512415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C033"/>
                  </a:solidFill>
                  <a:latin typeface="Roboto Bold"/>
                </a:rPr>
                <a:t>Джинория Денис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15197"/>
              <a:ext cx="9512415" cy="473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  <a:spcBef>
                  <a:spcPct val="0"/>
                </a:spcBef>
              </a:pPr>
              <a:r>
                <a:rPr lang="en-US" sz="2099" spc="62">
                  <a:solidFill>
                    <a:srgbClr val="FFFFFF"/>
                  </a:solidFill>
                  <a:latin typeface="Roboto"/>
                </a:rPr>
                <a:t>Разработчик, составитель документации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96395" y="6499880"/>
            <a:ext cx="7134311" cy="1041704"/>
            <a:chOff x="0" y="0"/>
            <a:chExt cx="9512415" cy="1388939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85725"/>
              <a:ext cx="9512415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C033"/>
                  </a:solidFill>
                  <a:latin typeface="Roboto Bold"/>
                </a:rPr>
                <a:t>Бородин Родион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15197"/>
              <a:ext cx="9512415" cy="473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  <a:spcBef>
                  <a:spcPct val="0"/>
                </a:spcBef>
              </a:pPr>
              <a:r>
                <a:rPr lang="en-US" sz="2099" spc="62">
                  <a:solidFill>
                    <a:srgbClr val="FFFFFF"/>
                  </a:solidFill>
                  <a:latin typeface="Roboto"/>
                </a:rPr>
                <a:t>Разработчик, дизайнер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96395" y="8120192"/>
            <a:ext cx="7134311" cy="1041704"/>
            <a:chOff x="0" y="0"/>
            <a:chExt cx="9512415" cy="1388939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85725"/>
              <a:ext cx="9512415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C033"/>
                  </a:solidFill>
                  <a:latin typeface="Roboto Bold"/>
                </a:rPr>
                <a:t>Волосовец Даниил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15197"/>
              <a:ext cx="9512415" cy="473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  <a:spcBef>
                  <a:spcPct val="0"/>
                </a:spcBef>
              </a:pPr>
              <a:r>
                <a:rPr lang="en-US" sz="2099" spc="62">
                  <a:solidFill>
                    <a:srgbClr val="FFFFFF"/>
                  </a:solidFill>
                  <a:latin typeface="Roboto"/>
                </a:rPr>
                <a:t>Разработчик</a:t>
              </a:r>
            </a:p>
          </p:txBody>
        </p:sp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837095" y="793494"/>
            <a:ext cx="2763445" cy="76886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819040" y="646435"/>
            <a:ext cx="1838668" cy="1062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606926" y="4054658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71770" y="952500"/>
            <a:ext cx="10540258" cy="104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20"/>
              </a:lnSpc>
            </a:pPr>
            <a:r>
              <a:rPr lang="en-US" sz="6400">
                <a:solidFill>
                  <a:srgbClr val="FFFFFF"/>
                </a:solidFill>
                <a:latin typeface="Roboto Bold"/>
              </a:rPr>
              <a:t>Чему мы </a:t>
            </a:r>
            <a:r>
              <a:rPr lang="en-US" sz="6400">
                <a:solidFill>
                  <a:srgbClr val="FFC033"/>
                </a:solidFill>
                <a:latin typeface="Roboto Bold"/>
              </a:rPr>
              <a:t>научились?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71770" y="2702902"/>
            <a:ext cx="4950373" cy="3051519"/>
            <a:chOff x="0" y="0"/>
            <a:chExt cx="7506272" cy="46270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06272" cy="4627032"/>
            </a:xfrm>
            <a:custGeom>
              <a:avLst/>
              <a:gdLst/>
              <a:ahLst/>
              <a:cxnLst/>
              <a:rect l="l" t="t" r="r" b="b"/>
              <a:pathLst>
                <a:path w="7506272" h="4627032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4322232"/>
                  </a:lnTo>
                  <a:cubicBezTo>
                    <a:pt x="0" y="4491142"/>
                    <a:pt x="135890" y="4627032"/>
                    <a:pt x="304800" y="4627032"/>
                  </a:cubicBezTo>
                  <a:lnTo>
                    <a:pt x="7201472" y="4627032"/>
                  </a:lnTo>
                  <a:cubicBezTo>
                    <a:pt x="7370382" y="4627032"/>
                    <a:pt x="7506272" y="4491142"/>
                    <a:pt x="7506272" y="4322232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671770" y="6310420"/>
            <a:ext cx="4950373" cy="4187890"/>
            <a:chOff x="0" y="0"/>
            <a:chExt cx="7506272" cy="63501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506272" cy="6350116"/>
            </a:xfrm>
            <a:custGeom>
              <a:avLst/>
              <a:gdLst/>
              <a:ahLst/>
              <a:cxnLst/>
              <a:rect l="l" t="t" r="r" b="b"/>
              <a:pathLst>
                <a:path w="7506272" h="6350116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6045316"/>
                  </a:lnTo>
                  <a:cubicBezTo>
                    <a:pt x="0" y="6214226"/>
                    <a:pt x="135890" y="6350116"/>
                    <a:pt x="304800" y="6350116"/>
                  </a:cubicBezTo>
                  <a:lnTo>
                    <a:pt x="7201472" y="6350116"/>
                  </a:lnTo>
                  <a:cubicBezTo>
                    <a:pt x="7370382" y="6350116"/>
                    <a:pt x="7506272" y="6214226"/>
                    <a:pt x="7506272" y="6045316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80882" y="3107925"/>
            <a:ext cx="3732150" cy="2241475"/>
            <a:chOff x="0" y="0"/>
            <a:chExt cx="4976200" cy="298863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85725"/>
              <a:ext cx="4976200" cy="8946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17"/>
                </a:lnSpc>
              </a:pPr>
              <a:r>
                <a:rPr lang="en-US" sz="4012">
                  <a:solidFill>
                    <a:srgbClr val="2E2E2E"/>
                  </a:solidFill>
                  <a:latin typeface="Roboto Bold"/>
                </a:rPr>
                <a:t>Unity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90937"/>
              <a:ext cx="4976200" cy="1997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12"/>
                </a:lnSpc>
              </a:pPr>
              <a:r>
                <a:rPr lang="en-US" sz="2674" spc="-149">
                  <a:solidFill>
                    <a:srgbClr val="2E2E2E"/>
                  </a:solidFill>
                  <a:latin typeface="Roboto"/>
                </a:rPr>
                <a:t>Усовершенствовали навыки работы с игровым движком unity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80882" y="6890792"/>
            <a:ext cx="4135295" cy="2769294"/>
            <a:chOff x="0" y="0"/>
            <a:chExt cx="5513727" cy="369239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85725"/>
              <a:ext cx="5513727" cy="889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14"/>
                </a:lnSpc>
              </a:pPr>
              <a:r>
                <a:rPr lang="en-US" sz="4010">
                  <a:solidFill>
                    <a:srgbClr val="FFFFFF"/>
                  </a:solidFill>
                  <a:latin typeface="Roboto Bold"/>
                </a:rPr>
                <a:t>Дизайн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040378"/>
              <a:ext cx="5513727" cy="2652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05"/>
                </a:lnSpc>
              </a:pPr>
              <a:r>
                <a:rPr lang="en-US" sz="2670">
                  <a:solidFill>
                    <a:srgbClr val="FFFFFF"/>
                  </a:solidFill>
                  <a:latin typeface="Roboto"/>
                </a:rPr>
                <a:t>Были приобретены навыки работы с интерфейсом в программе figma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821635" y="2732851"/>
            <a:ext cx="4950373" cy="3051519"/>
            <a:chOff x="0" y="0"/>
            <a:chExt cx="7506272" cy="46270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506272" cy="4627032"/>
            </a:xfrm>
            <a:custGeom>
              <a:avLst/>
              <a:gdLst/>
              <a:ahLst/>
              <a:cxnLst/>
              <a:rect l="l" t="t" r="r" b="b"/>
              <a:pathLst>
                <a:path w="7506272" h="4627032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4322232"/>
                  </a:lnTo>
                  <a:cubicBezTo>
                    <a:pt x="0" y="4491142"/>
                    <a:pt x="135890" y="4627032"/>
                    <a:pt x="304800" y="4627032"/>
                  </a:cubicBezTo>
                  <a:lnTo>
                    <a:pt x="7201472" y="4627032"/>
                  </a:lnTo>
                  <a:cubicBezTo>
                    <a:pt x="7370382" y="4627032"/>
                    <a:pt x="7506272" y="4491142"/>
                    <a:pt x="7506272" y="4322232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4493045" y="2996415"/>
            <a:ext cx="3794955" cy="2464494"/>
            <a:chOff x="0" y="0"/>
            <a:chExt cx="5059939" cy="3285992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85725"/>
              <a:ext cx="5059939" cy="1829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14"/>
                </a:lnSpc>
              </a:pPr>
              <a:r>
                <a:rPr lang="en-US" sz="4010" spc="-80">
                  <a:solidFill>
                    <a:srgbClr val="2E2E2E"/>
                  </a:solidFill>
                  <a:latin typeface="Roboto Bold"/>
                </a:rPr>
                <a:t>Работа над кейсом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980178"/>
              <a:ext cx="5059939" cy="13058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05"/>
                </a:lnSpc>
              </a:pPr>
              <a:r>
                <a:rPr lang="en-US" sz="2670" spc="-149">
                  <a:solidFill>
                    <a:srgbClr val="2E2E2E"/>
                  </a:solidFill>
                  <a:latin typeface="Roboto"/>
                </a:rPr>
                <a:t>Поиск проблематики проекта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21635" y="6310420"/>
            <a:ext cx="4950373" cy="4187890"/>
            <a:chOff x="0" y="0"/>
            <a:chExt cx="7506272" cy="63501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506272" cy="6350116"/>
            </a:xfrm>
            <a:custGeom>
              <a:avLst/>
              <a:gdLst/>
              <a:ahLst/>
              <a:cxnLst/>
              <a:rect l="l" t="t" r="r" b="b"/>
              <a:pathLst>
                <a:path w="7506272" h="6350116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6045316"/>
                  </a:lnTo>
                  <a:cubicBezTo>
                    <a:pt x="0" y="6214226"/>
                    <a:pt x="135890" y="6350116"/>
                    <a:pt x="304800" y="6350116"/>
                  </a:cubicBezTo>
                  <a:lnTo>
                    <a:pt x="7201472" y="6350116"/>
                  </a:lnTo>
                  <a:cubicBezTo>
                    <a:pt x="7370382" y="6350116"/>
                    <a:pt x="7506272" y="6214226"/>
                    <a:pt x="7506272" y="6045316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4493045" y="7141872"/>
            <a:ext cx="3361296" cy="2448365"/>
            <a:chOff x="0" y="0"/>
            <a:chExt cx="4481728" cy="3264487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85725"/>
              <a:ext cx="4481728" cy="1829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FFFF"/>
                  </a:solidFill>
                  <a:latin typeface="Roboto Bold"/>
                </a:rPr>
                <a:t>Тайм-менджмент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990042"/>
              <a:ext cx="4481728" cy="1274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en-US" sz="2600" spc="52">
                  <a:solidFill>
                    <a:srgbClr val="FFFFFF"/>
                  </a:solidFill>
                  <a:latin typeface="Roboto"/>
                </a:rPr>
                <a:t>Был получен опыт работы с trello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61655" y="7446790"/>
            <a:ext cx="4950373" cy="3051519"/>
            <a:chOff x="0" y="0"/>
            <a:chExt cx="7506272" cy="46270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506272" cy="4627032"/>
            </a:xfrm>
            <a:custGeom>
              <a:avLst/>
              <a:gdLst/>
              <a:ahLst/>
              <a:cxnLst/>
              <a:rect l="l" t="t" r="r" b="b"/>
              <a:pathLst>
                <a:path w="7506272" h="4627032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4322232"/>
                  </a:lnTo>
                  <a:cubicBezTo>
                    <a:pt x="0" y="4491142"/>
                    <a:pt x="135890" y="4627032"/>
                    <a:pt x="304800" y="4627032"/>
                  </a:cubicBezTo>
                  <a:lnTo>
                    <a:pt x="7201472" y="4627032"/>
                  </a:lnTo>
                  <a:cubicBezTo>
                    <a:pt x="7370382" y="4627032"/>
                    <a:pt x="7506272" y="4491142"/>
                    <a:pt x="7506272" y="4322232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870767" y="7740303"/>
            <a:ext cx="4026299" cy="2464494"/>
            <a:chOff x="0" y="0"/>
            <a:chExt cx="5368398" cy="3285992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85725"/>
              <a:ext cx="5368398" cy="1829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14"/>
                </a:lnSpc>
              </a:pPr>
              <a:r>
                <a:rPr lang="en-US" sz="4010">
                  <a:solidFill>
                    <a:srgbClr val="2E2E2E"/>
                  </a:solidFill>
                  <a:latin typeface="Roboto Bold"/>
                </a:rPr>
                <a:t>Эффективное обучение 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1980178"/>
              <a:ext cx="5368398" cy="13058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05"/>
                </a:lnSpc>
              </a:pPr>
              <a:r>
                <a:rPr lang="en-US" sz="2670">
                  <a:solidFill>
                    <a:srgbClr val="2E2E2E"/>
                  </a:solidFill>
                  <a:latin typeface="Roboto"/>
                </a:rPr>
                <a:t>Поиск необходимой информации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261655" y="2702902"/>
            <a:ext cx="4950373" cy="4187890"/>
            <a:chOff x="0" y="0"/>
            <a:chExt cx="7506272" cy="635011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506272" cy="6350116"/>
            </a:xfrm>
            <a:custGeom>
              <a:avLst/>
              <a:gdLst/>
              <a:ahLst/>
              <a:cxnLst/>
              <a:rect l="l" t="t" r="r" b="b"/>
              <a:pathLst>
                <a:path w="7506272" h="6350116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6045316"/>
                  </a:lnTo>
                  <a:cubicBezTo>
                    <a:pt x="0" y="6214226"/>
                    <a:pt x="135890" y="6350116"/>
                    <a:pt x="304800" y="6350116"/>
                  </a:cubicBezTo>
                  <a:lnTo>
                    <a:pt x="7201472" y="6350116"/>
                  </a:lnTo>
                  <a:cubicBezTo>
                    <a:pt x="7370382" y="6350116"/>
                    <a:pt x="7506272" y="6214226"/>
                    <a:pt x="7506272" y="6045316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410248" y="761811"/>
            <a:ext cx="2763445" cy="768862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8870767" y="3930902"/>
            <a:ext cx="3732150" cy="1731891"/>
            <a:chOff x="0" y="0"/>
            <a:chExt cx="4976200" cy="2309188"/>
          </a:xfrm>
        </p:grpSpPr>
        <p:sp>
          <p:nvSpPr>
            <p:cNvPr id="36" name="TextBox 36"/>
            <p:cNvSpPr txBox="1"/>
            <p:nvPr/>
          </p:nvSpPr>
          <p:spPr>
            <a:xfrm>
              <a:off x="0" y="-85725"/>
              <a:ext cx="4976200" cy="8946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17"/>
                </a:lnSpc>
              </a:pPr>
              <a:r>
                <a:rPr lang="en-US" sz="4012">
                  <a:solidFill>
                    <a:srgbClr val="FFFFFF"/>
                  </a:solidFill>
                  <a:latin typeface="Roboto Bold"/>
                </a:rPr>
                <a:t>Коммуникация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990937"/>
              <a:ext cx="4976200" cy="1318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12"/>
                </a:lnSpc>
              </a:pPr>
              <a:r>
                <a:rPr lang="en-US" sz="2674" spc="-149">
                  <a:solidFill>
                    <a:srgbClr val="FFFFFF"/>
                  </a:solidFill>
                  <a:latin typeface="Roboto"/>
                </a:rPr>
                <a:t>Получили опыт работы в команде</a:t>
              </a:r>
            </a:p>
          </p:txBody>
        </p:sp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73693" y="614752"/>
            <a:ext cx="1838668" cy="1062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60868"/>
            <a:ext cx="112078" cy="5810374"/>
            <a:chOff x="0" y="0"/>
            <a:chExt cx="149437" cy="774716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561123" y="2760547"/>
            <a:ext cx="13165753" cy="8174217"/>
            <a:chOff x="0" y="0"/>
            <a:chExt cx="12663261" cy="78622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63260" cy="7862234"/>
            </a:xfrm>
            <a:custGeom>
              <a:avLst/>
              <a:gdLst/>
              <a:ahLst/>
              <a:cxnLst/>
              <a:rect l="l" t="t" r="r" b="b"/>
              <a:pathLst>
                <a:path w="12663260" h="7862234">
                  <a:moveTo>
                    <a:pt x="1235846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7557434"/>
                  </a:lnTo>
                  <a:cubicBezTo>
                    <a:pt x="0" y="7726344"/>
                    <a:pt x="135890" y="7862234"/>
                    <a:pt x="304800" y="7862234"/>
                  </a:cubicBezTo>
                  <a:lnTo>
                    <a:pt x="12358460" y="7862234"/>
                  </a:lnTo>
                  <a:cubicBezTo>
                    <a:pt x="12527370" y="7862234"/>
                    <a:pt x="12663260" y="7726344"/>
                    <a:pt x="12663260" y="7557434"/>
                  </a:cubicBezTo>
                  <a:lnTo>
                    <a:pt x="12663260" y="304800"/>
                  </a:lnTo>
                  <a:cubicBezTo>
                    <a:pt x="12663260" y="135890"/>
                    <a:pt x="12527370" y="0"/>
                    <a:pt x="1235846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212028" y="643852"/>
            <a:ext cx="2763445" cy="76886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52141" y="489797"/>
            <a:ext cx="1838668" cy="106298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917263" y="5471492"/>
            <a:ext cx="9425373" cy="104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20"/>
              </a:lnSpc>
            </a:pPr>
            <a:r>
              <a:rPr lang="en-US" sz="6400">
                <a:solidFill>
                  <a:srgbClr val="FFFFFF"/>
                </a:solidFill>
                <a:latin typeface="Roboto Bold"/>
              </a:rPr>
              <a:t>Спасибо за </a:t>
            </a:r>
            <a:r>
              <a:rPr lang="en-US" sz="6400">
                <a:solidFill>
                  <a:srgbClr val="FFC033"/>
                </a:solidFill>
                <a:latin typeface="Roboto Bold"/>
              </a:rPr>
              <a:t>внимание!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340" y="4024710"/>
            <a:ext cx="955625" cy="44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209</Words>
  <Application>Microsoft Office PowerPoint</Application>
  <PresentationFormat>Произвольный</PresentationFormat>
  <Paragraphs>57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Roboto Bold</vt:lpstr>
      <vt:lpstr>Roboto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краш-тест</dc:title>
  <cp:lastModifiedBy>Alexandr Shvedenko</cp:lastModifiedBy>
  <cp:revision>4</cp:revision>
  <dcterms:created xsi:type="dcterms:W3CDTF">2006-08-16T00:00:00Z</dcterms:created>
  <dcterms:modified xsi:type="dcterms:W3CDTF">2021-01-20T12:35:32Z</dcterms:modified>
  <dc:identifier>DAETlsIO-Bs</dc:identifier>
</cp:coreProperties>
</file>